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One line: students pre-order food by chatting, and the kitchen sees the queue before the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pitch, 30 seconds: during the 15 to 20 minute break, 100+ students rush the canteen together. Queueing takes about 20 minutes, which leaves almost no time to eat. Replace with your own canteen's numbers if you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in one line: students chat to pre-order food before leaving class. The agent, powered by Gemma 4 (gemma-4-26b-a4b-it), validates prices, checks the kitchen queue, gives a pickup token and the exact time to collect.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of events: the student first enters a college roll number (authentication), then chats the order, and only after the order is placed does the app issue a token. The three tools are get_canteen_menu, check_queue_wait_time and place_canteen_order in harness/tools.py. Check this matches your final code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starts here. First enter the roll number and show it verified, then type the Rohan order and show the token, total, ready time and counter. Then try “I only have ₹80, what’s quick?”. The roll number and the values shown are examples; the real ones come from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Kitchen tab (second tab in the same Gradio app). Show the new order, then press Mark Token as Ready. The rows here are sample data from the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model name and the exact line in gemma_client.py (or app.py) that calls Gemma through the Gemini API. That is what the Best Use of Gemma 4 judges check. For Best Open-Source AI Project: public repo, MIT license, the skill in skills/canteen-preorder/SKILL.md and our own tools in harness/tools.py. Only claim the Agent Skill spec once skills-ref validate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 pitch, then take questions. Be honest that this is a single-session prototype: the queue lives in memory, and a shared backend is the natural next step. Replace the bracketed repo link and team name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5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231A14"/>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60"/>
            <a:ext cx="10566400" cy="4460240"/>
          </a:xfrm>
          <a:prstGeom prst="rect">
            <a:avLst/>
          </a:prstGeom>
          <a:noFill/>
          <a:ln/>
        </p:spPr>
        <p:txBody>
          <a:bodyPr wrap="square" lIns="0" tIns="0" rIns="0" bIns="0" rtlCol="0" anchor="t"/>
          <a:lstStyle>
            <a:lvl1pPr algn="l" indent="0" marL="0">
              <a:lnSpc>
                <a:spcPct val="140000"/>
              </a:lnSpc>
              <a:buNone/>
              <a:defRPr lang="en-US" sz="1600" dirty="0">
                <a:solidFill>
                  <a:srgbClr val="231A14"/>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5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231A14"/>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60"/>
            <a:ext cx="10566400" cy="4460240"/>
          </a:xfrm>
          <a:prstGeom prst="rect">
            <a:avLst/>
          </a:prstGeom>
          <a:noFill/>
          <a:ln/>
        </p:spPr>
        <p:txBody>
          <a:bodyPr wrap="square" lIns="0" tIns="0" rIns="0" bIns="0" rtlCol="0" anchor="t"/>
          <a:lstStyle>
            <a:lvl1pPr algn="l" indent="0" marL="0">
              <a:lnSpc>
                <a:spcPct val="140000"/>
              </a:lnSpc>
              <a:buNone/>
              <a:defRPr lang="en-US" sz="1600" dirty="0">
                <a:solidFill>
                  <a:srgbClr val="231A14"/>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1A1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823200" y="1422400"/>
            <a:ext cx="3556000" cy="3556000"/>
          </a:xfrm>
          <a:prstGeom prst="rect">
            <a:avLst/>
          </a:prstGeom>
        </p:spPr>
      </p:pic>
      <p:pic>
        <p:nvPicPr>
          <p:cNvPr id="3" name="Image 1" descr="Clock">    </p:cNvPr>
          <p:cNvPicPr>
            <a:picLocks noChangeAspect="1"/>
          </p:cNvPicPr>
          <p:nvPr/>
        </p:nvPicPr>
        <p:blipFill>
          <a:blip r:embed="rId2"/>
          <a:srcRect l="0" r="0" t="0" b="0"/>
          <a:stretch/>
        </p:blipFill>
        <p:spPr>
          <a:xfrm>
            <a:off x="8712200" y="2311400"/>
            <a:ext cx="1778000" cy="1778000"/>
          </a:xfrm>
          <a:prstGeom prst="rect">
            <a:avLst/>
          </a:prstGeom>
        </p:spPr>
      </p:pic>
      <p:sp>
        <p:nvSpPr>
          <p:cNvPr id="4" name="Text 0"/>
          <p:cNvSpPr/>
          <p:nvPr/>
        </p:nvSpPr>
        <p:spPr>
          <a:xfrm>
            <a:off x="812800" y="173101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08A4B"/>
                </a:solidFill>
                <a:latin typeface="DM Sans" pitchFamily="34" charset="0"/>
                <a:ea typeface="DM Sans" pitchFamily="34" charset="-122"/>
                <a:cs typeface="DM Sans" pitchFamily="34" charset="-120"/>
              </a:rPr>
              <a:t>BUILD FOR YOUR CAMPUS</a:t>
            </a:r>
            <a:endParaRPr lang="en-US" sz="1300" dirty="0"/>
          </a:p>
        </p:txBody>
      </p:sp>
      <p:sp>
        <p:nvSpPr>
          <p:cNvPr id="5" name="Text 1"/>
          <p:cNvSpPr/>
          <p:nvPr>
            <p:ph type="title"/>
          </p:nvPr>
        </p:nvSpPr>
        <p:spPr>
          <a:xfrm>
            <a:off x="812800" y="2165350"/>
            <a:ext cx="10883392" cy="985520"/>
          </a:xfrm>
          <a:prstGeom prst="rect">
            <a:avLst/>
          </a:prstGeom>
          <a:noFill/>
          <a:ln/>
        </p:spPr>
        <p:txBody>
          <a:bodyPr wrap="square" lIns="0" tIns="0" rIns="0" bIns="0" rtlCol="0" anchor="t">
            <a:normAutofit/>
          </a:bodyPr>
          <a:lstStyle/>
          <a:p>
            <a:pPr algn="l" indent="0" marL="0">
              <a:lnSpc>
                <a:spcPts val="7560"/>
              </a:lnSpc>
              <a:buNone/>
            </a:pPr>
            <a:r>
              <a:rPr lang="en-US" sz="7200" b="1" i="0" dirty="0">
                <a:solidFill>
                  <a:srgbClr val="FBF5EA"/>
                </a:solidFill>
                <a:latin typeface="DM Sans" pitchFamily="34" charset="0"/>
                <a:ea typeface="DM Sans" pitchFamily="34" charset="-122"/>
                <a:cs typeface="DM Sans" pitchFamily="34" charset="-120"/>
              </a:rPr>
              <a:t>CanteenRush</a:t>
            </a:r>
            <a:endParaRPr lang="en-US" sz="7200" dirty="0"/>
          </a:p>
        </p:txBody>
      </p:sp>
      <p:sp>
        <p:nvSpPr>
          <p:cNvPr id="6" name="Text 2"/>
          <p:cNvSpPr/>
          <p:nvPr/>
        </p:nvSpPr>
        <p:spPr>
          <a:xfrm>
            <a:off x="812800" y="3328670"/>
            <a:ext cx="654050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3D3BF"/>
                </a:solidFill>
                <a:latin typeface="DM Sans" pitchFamily="34" charset="0"/>
                <a:ea typeface="DM Sans" pitchFamily="34" charset="-122"/>
                <a:cs typeface="DM Sans" pitchFamily="34" charset="-120"/>
              </a:rPr>
              <a:t>Smart campus pre-order and kitchen queue agent, built with Gemma 4</a:t>
            </a:r>
            <a:endParaRPr lang="en-US" sz="2200" dirty="0"/>
          </a:p>
        </p:txBody>
      </p:sp>
      <p:sp>
        <p:nvSpPr>
          <p:cNvPr id="7" name="Text 3"/>
          <p:cNvSpPr/>
          <p:nvPr/>
        </p:nvSpPr>
        <p:spPr>
          <a:xfrm>
            <a:off x="812800" y="4258310"/>
            <a:ext cx="2752011" cy="665480"/>
          </a:xfrm>
          <a:prstGeom prst="roundRect">
            <a:avLst>
              <a:gd name="adj" fmla="val 50000"/>
            </a:avLst>
          </a:prstGeom>
          <a:solidFill>
            <a:srgbClr val="F08A4B"/>
          </a:solidFill>
          <a:ln/>
        </p:spPr>
        <p:txBody>
          <a:bodyPr wrap="none" lIns="0" tIns="0" rIns="0" bIns="0" rtlCol="0" anchor="ctr">
            <a:normAutofit/>
          </a:bodyPr>
          <a:lstStyle/>
          <a:p>
            <a:pPr algn="ctr" indent="0" marL="0">
              <a:lnSpc>
                <a:spcPts val="3640"/>
              </a:lnSpc>
              <a:buNone/>
            </a:pPr>
            <a:r>
              <a:rPr lang="en-US" sz="2600" b="1" spc="100" kern="0" dirty="0">
                <a:solidFill>
                  <a:srgbClr val="231A14"/>
                </a:solidFill>
                <a:latin typeface="DM Sans" pitchFamily="34" charset="0"/>
                <a:ea typeface="DM Sans" pitchFamily="34" charset="-122"/>
                <a:cs typeface="DM Sans" pitchFamily="34" charset="-120"/>
              </a:rPr>
              <a:t>Team Eureka</a:t>
            </a:r>
            <a:endParaRPr lang="en-US" sz="2600" dirty="0"/>
          </a:p>
        </p:txBody>
      </p:sp>
      <p:sp>
        <p:nvSpPr>
          <p:cNvPr id="8" name="Text 4"/>
          <p:cNvSpPr/>
          <p:nvPr/>
        </p:nvSpPr>
        <p:spPr>
          <a:xfrm>
            <a:off x="812800" y="623824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BA78F"/>
                </a:solidFill>
                <a:latin typeface="DM Sans" pitchFamily="34" charset="0"/>
                <a:ea typeface="DM Sans" pitchFamily="34" charset="-122"/>
                <a:cs typeface="DM Sans" pitchFamily="34" charset="-120"/>
              </a:rPr>
              <a:t>OpenLake × MLH Hack Day · IIT Bhilai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31A14"/>
                </a:solidFill>
                <a:latin typeface="DM Sans" pitchFamily="34" charset="0"/>
                <a:ea typeface="DM Sans" pitchFamily="34" charset="-122"/>
                <a:cs typeface="DM Sans" pitchFamily="34" charset="-120"/>
              </a:rPr>
              <a:t>The break-time queue</a:t>
            </a:r>
            <a:endParaRPr lang="en-US" sz="3200" dirty="0"/>
          </a:p>
        </p:txBody>
      </p:sp>
      <p:sp>
        <p:nvSpPr>
          <p:cNvPr id="3" name="Shape 1"/>
          <p:cNvSpPr/>
          <p:nvPr/>
        </p:nvSpPr>
        <p:spPr>
          <a:xfrm>
            <a:off x="812800" y="1584960"/>
            <a:ext cx="4318000" cy="3276600"/>
          </a:xfrm>
          <a:prstGeom prst="roundRect">
            <a:avLst>
              <a:gd name="adj" fmla="val 4651"/>
            </a:avLst>
          </a:prstGeom>
          <a:solidFill>
            <a:srgbClr val="231A14"/>
          </a:solidFill>
          <a:ln/>
        </p:spPr>
      </p:sp>
      <p:sp>
        <p:nvSpPr>
          <p:cNvPr id="4" name="Text 2"/>
          <p:cNvSpPr/>
          <p:nvPr/>
        </p:nvSpPr>
        <p:spPr>
          <a:xfrm>
            <a:off x="1117600" y="2240280"/>
            <a:ext cx="381965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08A4B"/>
                </a:solidFill>
                <a:latin typeface="DM Sans" pitchFamily="34" charset="0"/>
                <a:ea typeface="DM Sans" pitchFamily="34" charset="-122"/>
                <a:cs typeface="DM Sans" pitchFamily="34" charset="-120"/>
              </a:rPr>
              <a:t>20</a:t>
            </a:r>
            <a:endParaRPr lang="en-US" sz="10000" dirty="0"/>
          </a:p>
        </p:txBody>
      </p:sp>
      <p:sp>
        <p:nvSpPr>
          <p:cNvPr id="5" name="Text 3"/>
          <p:cNvSpPr/>
          <p:nvPr/>
        </p:nvSpPr>
        <p:spPr>
          <a:xfrm>
            <a:off x="1117600" y="3611880"/>
            <a:ext cx="3819652" cy="6197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BF5EA"/>
                </a:solidFill>
                <a:latin typeface="DM Sans" pitchFamily="34" charset="0"/>
                <a:ea typeface="DM Sans" pitchFamily="34" charset="-122"/>
                <a:cs typeface="DM Sans" pitchFamily="34" charset="-120"/>
              </a:rPr>
              <a:t>minutes in the queue during a 15 to 20 minute break</a:t>
            </a:r>
            <a:endParaRPr lang="en-US" sz="1800" dirty="0"/>
          </a:p>
        </p:txBody>
      </p:sp>
      <p:sp>
        <p:nvSpPr>
          <p:cNvPr id="6" name="Shape 4"/>
          <p:cNvSpPr/>
          <p:nvPr/>
        </p:nvSpPr>
        <p:spPr>
          <a:xfrm>
            <a:off x="5438775" y="1588135"/>
            <a:ext cx="5937250" cy="984250"/>
          </a:xfrm>
          <a:prstGeom prst="roundRect">
            <a:avLst>
              <a:gd name="adj" fmla="val 12581"/>
            </a:avLst>
          </a:prstGeom>
          <a:solidFill>
            <a:srgbClr val="FFFDF8"/>
          </a:solidFill>
          <a:ln w="6350">
            <a:solidFill>
              <a:srgbClr val="E5D6BE"/>
            </a:solidFill>
            <a:prstDash val="solid"/>
          </a:ln>
        </p:spPr>
      </p:sp>
      <p:sp>
        <p:nvSpPr>
          <p:cNvPr id="7" name="Text 5"/>
          <p:cNvSpPr/>
          <p:nvPr/>
        </p:nvSpPr>
        <p:spPr>
          <a:xfrm>
            <a:off x="5643880" y="1793240"/>
            <a:ext cx="5692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1A14"/>
                </a:solidFill>
                <a:latin typeface="DM Sans" pitchFamily="34" charset="0"/>
                <a:ea typeface="DM Sans" pitchFamily="34" charset="-122"/>
                <a:cs typeface="DM Sans" pitchFamily="34" charset="-120"/>
              </a:rPr>
              <a:t>100+ students, one rush</a:t>
            </a:r>
            <a:endParaRPr lang="en-US" sz="1800" dirty="0"/>
          </a:p>
        </p:txBody>
      </p:sp>
      <p:sp>
        <p:nvSpPr>
          <p:cNvPr id="8" name="Text 6"/>
          <p:cNvSpPr/>
          <p:nvPr/>
        </p:nvSpPr>
        <p:spPr>
          <a:xfrm>
            <a:off x="5643880" y="2118360"/>
            <a:ext cx="56928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A3E"/>
                </a:solidFill>
                <a:latin typeface="DM Sans" pitchFamily="34" charset="0"/>
                <a:ea typeface="DM Sans" pitchFamily="34" charset="-122"/>
                <a:cs typeface="DM Sans" pitchFamily="34" charset="-120"/>
              </a:rPr>
              <a:t>Everyone reaches the canteen at the same moment.</a:t>
            </a:r>
            <a:endParaRPr lang="en-US" sz="1400" dirty="0"/>
          </a:p>
        </p:txBody>
      </p:sp>
      <p:sp>
        <p:nvSpPr>
          <p:cNvPr id="9" name="Shape 7"/>
          <p:cNvSpPr/>
          <p:nvPr/>
        </p:nvSpPr>
        <p:spPr>
          <a:xfrm>
            <a:off x="5438775" y="2731135"/>
            <a:ext cx="5937250" cy="984250"/>
          </a:xfrm>
          <a:prstGeom prst="roundRect">
            <a:avLst>
              <a:gd name="adj" fmla="val 12581"/>
            </a:avLst>
          </a:prstGeom>
          <a:solidFill>
            <a:srgbClr val="FFFDF8"/>
          </a:solidFill>
          <a:ln w="6350">
            <a:solidFill>
              <a:srgbClr val="E5D6BE"/>
            </a:solidFill>
            <a:prstDash val="solid"/>
          </a:ln>
        </p:spPr>
      </p:sp>
      <p:sp>
        <p:nvSpPr>
          <p:cNvPr id="10" name="Text 8"/>
          <p:cNvSpPr/>
          <p:nvPr/>
        </p:nvSpPr>
        <p:spPr>
          <a:xfrm>
            <a:off x="5643880" y="2936240"/>
            <a:ext cx="5692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1A14"/>
                </a:solidFill>
                <a:latin typeface="DM Sans" pitchFamily="34" charset="0"/>
                <a:ea typeface="DM Sans" pitchFamily="34" charset="-122"/>
                <a:cs typeface="DM Sans" pitchFamily="34" charset="-120"/>
              </a:rPr>
              <a:t>Food or class, not both</a:t>
            </a:r>
            <a:endParaRPr lang="en-US" sz="1800" dirty="0"/>
          </a:p>
        </p:txBody>
      </p:sp>
      <p:sp>
        <p:nvSpPr>
          <p:cNvPr id="11" name="Text 9"/>
          <p:cNvSpPr/>
          <p:nvPr/>
        </p:nvSpPr>
        <p:spPr>
          <a:xfrm>
            <a:off x="5643880" y="3261360"/>
            <a:ext cx="56928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A3E"/>
                </a:solidFill>
                <a:latin typeface="DM Sans" pitchFamily="34" charset="0"/>
                <a:ea typeface="DM Sans" pitchFamily="34" charset="-122"/>
                <a:cs typeface="DM Sans" pitchFamily="34" charset="-120"/>
              </a:rPr>
              <a:t>Students skip the meal or walk into the next lecture late.</a:t>
            </a:r>
            <a:endParaRPr lang="en-US" sz="1400" dirty="0"/>
          </a:p>
        </p:txBody>
      </p:sp>
      <p:sp>
        <p:nvSpPr>
          <p:cNvPr id="12" name="Shape 10"/>
          <p:cNvSpPr/>
          <p:nvPr/>
        </p:nvSpPr>
        <p:spPr>
          <a:xfrm>
            <a:off x="5438775" y="3874135"/>
            <a:ext cx="5937250" cy="984250"/>
          </a:xfrm>
          <a:prstGeom prst="roundRect">
            <a:avLst>
              <a:gd name="adj" fmla="val 12581"/>
            </a:avLst>
          </a:prstGeom>
          <a:solidFill>
            <a:srgbClr val="FFFDF8"/>
          </a:solidFill>
          <a:ln w="6350">
            <a:solidFill>
              <a:srgbClr val="E5D6BE"/>
            </a:solidFill>
            <a:prstDash val="solid"/>
          </a:ln>
        </p:spPr>
      </p:sp>
      <p:sp>
        <p:nvSpPr>
          <p:cNvPr id="13" name="Text 11"/>
          <p:cNvSpPr/>
          <p:nvPr/>
        </p:nvSpPr>
        <p:spPr>
          <a:xfrm>
            <a:off x="5643880" y="4079240"/>
            <a:ext cx="5692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1A14"/>
                </a:solidFill>
                <a:latin typeface="DM Sans" pitchFamily="34" charset="0"/>
                <a:ea typeface="DM Sans" pitchFamily="34" charset="-122"/>
                <a:cs typeface="DM Sans" pitchFamily="34" charset="-120"/>
              </a:rPr>
              <a:t>The kitchen is guessing</a:t>
            </a:r>
            <a:endParaRPr lang="en-US" sz="1800" dirty="0"/>
          </a:p>
        </p:txBody>
      </p:sp>
      <p:sp>
        <p:nvSpPr>
          <p:cNvPr id="14" name="Text 12"/>
          <p:cNvSpPr/>
          <p:nvPr/>
        </p:nvSpPr>
        <p:spPr>
          <a:xfrm>
            <a:off x="5643880" y="4404360"/>
            <a:ext cx="56928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A3E"/>
                </a:solidFill>
                <a:latin typeface="DM Sans" pitchFamily="34" charset="0"/>
                <a:ea typeface="DM Sans" pitchFamily="34" charset="-122"/>
                <a:cs typeface="DM Sans" pitchFamily="34" charset="-120"/>
              </a:rPr>
              <a:t>Orders arrive all at once, so nothing is prepared ahead.</a:t>
            </a:r>
            <a:endParaRPr lang="en-US" sz="1400" dirty="0"/>
          </a:p>
        </p:txBody>
      </p:sp>
      <p:sp>
        <p:nvSpPr>
          <p:cNvPr id="15" name="Text 13"/>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C"/>
                </a:solidFill>
                <a:latin typeface="DM Sans" pitchFamily="34" charset="0"/>
                <a:ea typeface="DM Sans" pitchFamily="34" charset="-122"/>
                <a:cs typeface="DM Sans" pitchFamily="34" charset="-120"/>
              </a:rPr>
              <a:t>CanteenRush · Build with Gemma 4</a:t>
            </a:r>
            <a:endParaRPr lang="en-US" sz="1200" dirty="0"/>
          </a:p>
        </p:txBody>
      </p:sp>
      <p:sp>
        <p:nvSpPr>
          <p:cNvPr id="16" name="Text 14"/>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6A5C"/>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8A4B"/>
        </a:solidFill>
      </p:bgPr>
    </p:bg>
    <p:spTree>
      <p:nvGrpSpPr>
        <p:cNvPr id="1" name=""/>
        <p:cNvGrpSpPr/>
        <p:nvPr/>
      </p:nvGrpSpPr>
      <p:grpSpPr>
        <a:xfrm>
          <a:off x="0" y="0"/>
          <a:ext cx="0" cy="0"/>
          <a:chOff x="0" y="0"/>
          <a:chExt cx="0" cy="0"/>
        </a:xfrm>
      </p:grpSpPr>
      <p:sp>
        <p:nvSpPr>
          <p:cNvPr id="2" name="Text 0"/>
          <p:cNvSpPr/>
          <p:nvPr/>
        </p:nvSpPr>
        <p:spPr>
          <a:xfrm>
            <a:off x="812800" y="196977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231A14"/>
                </a:solidFill>
                <a:latin typeface="DM Sans" pitchFamily="34" charset="0"/>
                <a:ea typeface="DM Sans" pitchFamily="34" charset="-122"/>
                <a:cs typeface="DM Sans" pitchFamily="34" charset="-120"/>
              </a:rPr>
              <a:t>OUR SOLUTION</a:t>
            </a:r>
            <a:endParaRPr lang="en-US" sz="1300" dirty="0"/>
          </a:p>
        </p:txBody>
      </p:sp>
      <p:sp>
        <p:nvSpPr>
          <p:cNvPr id="3" name="Text 1"/>
          <p:cNvSpPr/>
          <p:nvPr>
            <p:ph type="title"/>
          </p:nvPr>
        </p:nvSpPr>
        <p:spPr>
          <a:xfrm>
            <a:off x="812800" y="2353311"/>
            <a:ext cx="11379200"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231A14"/>
                </a:solidFill>
                <a:latin typeface="DM Sans" pitchFamily="34" charset="0"/>
                <a:ea typeface="DM Sans" pitchFamily="34" charset="-122"/>
                <a:cs typeface="DM Sans" pitchFamily="34" charset="-120"/>
              </a:rPr>
              <a:t>Pre-order by chat. Skip the queue.</a:t>
            </a:r>
            <a:endParaRPr lang="en-US" sz="4800" dirty="0"/>
          </a:p>
        </p:txBody>
      </p:sp>
      <p:sp>
        <p:nvSpPr>
          <p:cNvPr id="4" name="Shape 2"/>
          <p:cNvSpPr/>
          <p:nvPr/>
        </p:nvSpPr>
        <p:spPr>
          <a:xfrm>
            <a:off x="812800" y="3348991"/>
            <a:ext cx="3386614" cy="1336040"/>
          </a:xfrm>
          <a:prstGeom prst="roundRect">
            <a:avLst>
              <a:gd name="adj" fmla="val 11407"/>
            </a:avLst>
          </a:prstGeom>
          <a:solidFill>
            <a:srgbClr val="FBF5EA"/>
          </a:solidFill>
          <a:ln/>
        </p:spPr>
      </p:sp>
      <p:sp>
        <p:nvSpPr>
          <p:cNvPr id="5" name="Text 3"/>
          <p:cNvSpPr/>
          <p:nvPr/>
        </p:nvSpPr>
        <p:spPr>
          <a:xfrm>
            <a:off x="1041400" y="3577591"/>
            <a:ext cx="301729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1A14"/>
                </a:solidFill>
                <a:latin typeface="DM Sans" pitchFamily="34" charset="0"/>
                <a:ea typeface="DM Sans" pitchFamily="34" charset="-122"/>
                <a:cs typeface="DM Sans" pitchFamily="34" charset="-120"/>
              </a:rPr>
              <a:t>No waiting</a:t>
            </a:r>
            <a:endParaRPr lang="en-US" sz="2000" dirty="0"/>
          </a:p>
        </p:txBody>
      </p:sp>
      <p:sp>
        <p:nvSpPr>
          <p:cNvPr id="6" name="Text 4"/>
          <p:cNvSpPr/>
          <p:nvPr/>
        </p:nvSpPr>
        <p:spPr>
          <a:xfrm>
            <a:off x="1041400" y="3958591"/>
            <a:ext cx="30172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A3E"/>
                </a:solidFill>
                <a:latin typeface="DM Sans" pitchFamily="34" charset="0"/>
                <a:ea typeface="DM Sans" pitchFamily="34" charset="-122"/>
                <a:cs typeface="DM Sans" pitchFamily="34" charset="-120"/>
              </a:rPr>
              <a:t>Verify with your roll number, order from class, collect with your token.</a:t>
            </a:r>
            <a:endParaRPr lang="en-US" sz="1400" dirty="0"/>
          </a:p>
        </p:txBody>
      </p:sp>
      <p:sp>
        <p:nvSpPr>
          <p:cNvPr id="7" name="Shape 5"/>
          <p:cNvSpPr/>
          <p:nvPr/>
        </p:nvSpPr>
        <p:spPr>
          <a:xfrm>
            <a:off x="4402614" y="3348991"/>
            <a:ext cx="3386693" cy="1336040"/>
          </a:xfrm>
          <a:prstGeom prst="roundRect">
            <a:avLst>
              <a:gd name="adj" fmla="val 11407"/>
            </a:avLst>
          </a:prstGeom>
          <a:solidFill>
            <a:srgbClr val="FBF5EA"/>
          </a:solidFill>
          <a:ln/>
        </p:spPr>
      </p:sp>
      <p:sp>
        <p:nvSpPr>
          <p:cNvPr id="8" name="Text 6"/>
          <p:cNvSpPr/>
          <p:nvPr/>
        </p:nvSpPr>
        <p:spPr>
          <a:xfrm>
            <a:off x="4631214" y="3577591"/>
            <a:ext cx="30173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1A14"/>
                </a:solidFill>
                <a:latin typeface="DM Sans" pitchFamily="34" charset="0"/>
                <a:ea typeface="DM Sans" pitchFamily="34" charset="-122"/>
                <a:cs typeface="DM Sans" pitchFamily="34" charset="-120"/>
              </a:rPr>
              <a:t>Ready on time</a:t>
            </a:r>
            <a:endParaRPr lang="en-US" sz="2000" dirty="0"/>
          </a:p>
        </p:txBody>
      </p:sp>
      <p:sp>
        <p:nvSpPr>
          <p:cNvPr id="9" name="Text 7"/>
          <p:cNvSpPr/>
          <p:nvPr/>
        </p:nvSpPr>
        <p:spPr>
          <a:xfrm>
            <a:off x="4631214" y="3958591"/>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A3E"/>
                </a:solidFill>
                <a:latin typeface="DM Sans" pitchFamily="34" charset="0"/>
                <a:ea typeface="DM Sans" pitchFamily="34" charset="-122"/>
                <a:cs typeface="DM Sans" pitchFamily="34" charset="-120"/>
              </a:rPr>
              <a:t>Every order takes about 8 minutes, so you arrive when the food does.</a:t>
            </a:r>
            <a:endParaRPr lang="en-US" sz="1400" dirty="0"/>
          </a:p>
        </p:txBody>
      </p:sp>
      <p:sp>
        <p:nvSpPr>
          <p:cNvPr id="10" name="Shape 8"/>
          <p:cNvSpPr/>
          <p:nvPr/>
        </p:nvSpPr>
        <p:spPr>
          <a:xfrm>
            <a:off x="7992507" y="3348991"/>
            <a:ext cx="3386693" cy="1336040"/>
          </a:xfrm>
          <a:prstGeom prst="roundRect">
            <a:avLst>
              <a:gd name="adj" fmla="val 11407"/>
            </a:avLst>
          </a:prstGeom>
          <a:solidFill>
            <a:srgbClr val="231A14"/>
          </a:solidFill>
          <a:ln/>
        </p:spPr>
      </p:sp>
      <p:sp>
        <p:nvSpPr>
          <p:cNvPr id="11" name="Text 9"/>
          <p:cNvSpPr/>
          <p:nvPr/>
        </p:nvSpPr>
        <p:spPr>
          <a:xfrm>
            <a:off x="8221107" y="3577591"/>
            <a:ext cx="30173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08A4B"/>
                </a:solidFill>
                <a:latin typeface="DM Sans" pitchFamily="34" charset="0"/>
                <a:ea typeface="DM Sans" pitchFamily="34" charset="-122"/>
                <a:cs typeface="DM Sans" pitchFamily="34" charset="-120"/>
              </a:rPr>
              <a:t>Kitchen plans ahead</a:t>
            </a:r>
            <a:endParaRPr lang="en-US" sz="2000" dirty="0"/>
          </a:p>
        </p:txBody>
      </p:sp>
      <p:sp>
        <p:nvSpPr>
          <p:cNvPr id="12" name="Text 10"/>
          <p:cNvSpPr/>
          <p:nvPr/>
        </p:nvSpPr>
        <p:spPr>
          <a:xfrm>
            <a:off x="8221107" y="3958591"/>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D3BF"/>
                </a:solidFill>
                <a:latin typeface="DM Sans" pitchFamily="34" charset="0"/>
                <a:ea typeface="DM Sans" pitchFamily="34" charset="-122"/>
                <a:cs typeface="DM Sans" pitchFamily="34" charset="-120"/>
              </a:rPr>
              <a:t>Orders reach the board before the rush hits.</a:t>
            </a:r>
            <a:endParaRPr lang="en-US" sz="1400" dirty="0"/>
          </a:p>
        </p:txBody>
      </p:sp>
      <p:sp>
        <p:nvSpPr>
          <p:cNvPr id="13" name="Text 11"/>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31A14"/>
                </a:solidFill>
                <a:latin typeface="DM Sans" pitchFamily="34" charset="0"/>
                <a:ea typeface="DM Sans" pitchFamily="34" charset="-122"/>
                <a:cs typeface="DM Sans" pitchFamily="34" charset="-120"/>
              </a:rPr>
              <a:t>CanteenRush · Build with Gemma 4</a:t>
            </a:r>
            <a:endParaRPr lang="en-US" sz="1200" dirty="0"/>
          </a:p>
        </p:txBody>
      </p:sp>
      <p:sp>
        <p:nvSpPr>
          <p:cNvPr id="14" name="Text 12"/>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231A14"/>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6D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31A14"/>
                </a:solidFill>
                <a:latin typeface="DM Sans" pitchFamily="34" charset="0"/>
                <a:ea typeface="DM Sans" pitchFamily="34" charset="-122"/>
                <a:cs typeface="DM Sans" pitchFamily="34" charset="-120"/>
              </a:rPr>
              <a:t>How we solve it</a:t>
            </a:r>
            <a:endParaRPr lang="en-US" sz="3200" dirty="0"/>
          </a:p>
        </p:txBody>
      </p:sp>
      <p:sp>
        <p:nvSpPr>
          <p:cNvPr id="3" name="Shape 1"/>
          <p:cNvSpPr/>
          <p:nvPr/>
        </p:nvSpPr>
        <p:spPr>
          <a:xfrm>
            <a:off x="812800" y="1508761"/>
            <a:ext cx="1991360" cy="1760220"/>
          </a:xfrm>
          <a:prstGeom prst="roundRect">
            <a:avLst>
              <a:gd name="adj" fmla="val 8658"/>
            </a:avLst>
          </a:prstGeom>
          <a:solidFill>
            <a:srgbClr val="FFFDF8"/>
          </a:solidFill>
          <a:ln/>
        </p:spPr>
      </p:sp>
      <p:sp>
        <p:nvSpPr>
          <p:cNvPr id="4" name="Text 2"/>
          <p:cNvSpPr/>
          <p:nvPr/>
        </p:nvSpPr>
        <p:spPr>
          <a:xfrm>
            <a:off x="990600" y="1686561"/>
            <a:ext cx="16865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4A14"/>
                </a:solidFill>
                <a:latin typeface="DM Sans" pitchFamily="34" charset="0"/>
                <a:ea typeface="DM Sans" pitchFamily="34" charset="-122"/>
                <a:cs typeface="DM Sans" pitchFamily="34" charset="-120"/>
              </a:rPr>
              <a:t>01</a:t>
            </a:r>
            <a:endParaRPr lang="en-US" sz="1600" dirty="0"/>
          </a:p>
        </p:txBody>
      </p:sp>
      <p:sp>
        <p:nvSpPr>
          <p:cNvPr id="5" name="Text 3"/>
          <p:cNvSpPr/>
          <p:nvPr/>
        </p:nvSpPr>
        <p:spPr>
          <a:xfrm>
            <a:off x="990600" y="2047241"/>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1A14"/>
                </a:solidFill>
                <a:latin typeface="DM Sans" pitchFamily="34" charset="0"/>
                <a:ea typeface="DM Sans" pitchFamily="34" charset="-122"/>
                <a:cs typeface="DM Sans" pitchFamily="34" charset="-120"/>
              </a:rPr>
              <a:t>Verify</a:t>
            </a:r>
            <a:endParaRPr lang="en-US" sz="1800" dirty="0"/>
          </a:p>
        </p:txBody>
      </p:sp>
      <p:sp>
        <p:nvSpPr>
          <p:cNvPr id="6" name="Text 4"/>
          <p:cNvSpPr/>
          <p:nvPr/>
        </p:nvSpPr>
        <p:spPr>
          <a:xfrm>
            <a:off x="990600" y="2397761"/>
            <a:ext cx="16865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4A3E"/>
                </a:solidFill>
                <a:latin typeface="DM Sans" pitchFamily="34" charset="0"/>
                <a:ea typeface="DM Sans" pitchFamily="34" charset="-122"/>
                <a:cs typeface="DM Sans" pitchFamily="34" charset="-120"/>
              </a:rPr>
              <a:t>Enter your college roll number first.</a:t>
            </a:r>
            <a:endParaRPr lang="en-US" sz="1300" dirty="0"/>
          </a:p>
        </p:txBody>
      </p:sp>
      <p:sp>
        <p:nvSpPr>
          <p:cNvPr id="7" name="Shape 5"/>
          <p:cNvSpPr/>
          <p:nvPr/>
        </p:nvSpPr>
        <p:spPr>
          <a:xfrm>
            <a:off x="2956560" y="1508761"/>
            <a:ext cx="1991360" cy="1760220"/>
          </a:xfrm>
          <a:prstGeom prst="roundRect">
            <a:avLst>
              <a:gd name="adj" fmla="val 8658"/>
            </a:avLst>
          </a:prstGeom>
          <a:solidFill>
            <a:srgbClr val="FFFDF8"/>
          </a:solidFill>
          <a:ln/>
        </p:spPr>
      </p:sp>
      <p:sp>
        <p:nvSpPr>
          <p:cNvPr id="8" name="Text 6"/>
          <p:cNvSpPr/>
          <p:nvPr/>
        </p:nvSpPr>
        <p:spPr>
          <a:xfrm>
            <a:off x="3134360" y="1686561"/>
            <a:ext cx="16865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4A14"/>
                </a:solidFill>
                <a:latin typeface="DM Sans" pitchFamily="34" charset="0"/>
                <a:ea typeface="DM Sans" pitchFamily="34" charset="-122"/>
                <a:cs typeface="DM Sans" pitchFamily="34" charset="-120"/>
              </a:rPr>
              <a:t>02</a:t>
            </a:r>
            <a:endParaRPr lang="en-US" sz="1600" dirty="0"/>
          </a:p>
        </p:txBody>
      </p:sp>
      <p:sp>
        <p:nvSpPr>
          <p:cNvPr id="9" name="Text 7"/>
          <p:cNvSpPr/>
          <p:nvPr/>
        </p:nvSpPr>
        <p:spPr>
          <a:xfrm>
            <a:off x="3134360" y="2047241"/>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1A14"/>
                </a:solidFill>
                <a:latin typeface="DM Sans" pitchFamily="34" charset="0"/>
                <a:ea typeface="DM Sans" pitchFamily="34" charset="-122"/>
                <a:cs typeface="DM Sans" pitchFamily="34" charset="-120"/>
              </a:rPr>
              <a:t>Order</a:t>
            </a:r>
            <a:endParaRPr lang="en-US" sz="1800" dirty="0"/>
          </a:p>
        </p:txBody>
      </p:sp>
      <p:sp>
        <p:nvSpPr>
          <p:cNvPr id="10" name="Text 8"/>
          <p:cNvSpPr/>
          <p:nvPr/>
        </p:nvSpPr>
        <p:spPr>
          <a:xfrm>
            <a:off x="3134360" y="2397761"/>
            <a:ext cx="168656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4A3E"/>
                </a:solidFill>
                <a:latin typeface="DM Sans" pitchFamily="34" charset="0"/>
                <a:ea typeface="DM Sans" pitchFamily="34" charset="-122"/>
                <a:cs typeface="DM Sans" pitchFamily="34" charset="-120"/>
              </a:rPr>
              <a:t>Chat it in your own words, even in Hinglish.</a:t>
            </a:r>
            <a:endParaRPr lang="en-US" sz="1300" dirty="0"/>
          </a:p>
        </p:txBody>
      </p:sp>
      <p:sp>
        <p:nvSpPr>
          <p:cNvPr id="11" name="Shape 9"/>
          <p:cNvSpPr/>
          <p:nvPr/>
        </p:nvSpPr>
        <p:spPr>
          <a:xfrm>
            <a:off x="5100320" y="1508761"/>
            <a:ext cx="1991360" cy="1760220"/>
          </a:xfrm>
          <a:prstGeom prst="roundRect">
            <a:avLst>
              <a:gd name="adj" fmla="val 8658"/>
            </a:avLst>
          </a:prstGeom>
          <a:solidFill>
            <a:srgbClr val="FFFDF8"/>
          </a:solidFill>
          <a:ln/>
        </p:spPr>
      </p:sp>
      <p:sp>
        <p:nvSpPr>
          <p:cNvPr id="12" name="Text 10"/>
          <p:cNvSpPr/>
          <p:nvPr/>
        </p:nvSpPr>
        <p:spPr>
          <a:xfrm>
            <a:off x="5278120" y="1686561"/>
            <a:ext cx="16865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4A14"/>
                </a:solidFill>
                <a:latin typeface="DM Sans" pitchFamily="34" charset="0"/>
                <a:ea typeface="DM Sans" pitchFamily="34" charset="-122"/>
                <a:cs typeface="DM Sans" pitchFamily="34" charset="-120"/>
              </a:rPr>
              <a:t>03</a:t>
            </a:r>
            <a:endParaRPr lang="en-US" sz="1600" dirty="0"/>
          </a:p>
        </p:txBody>
      </p:sp>
      <p:sp>
        <p:nvSpPr>
          <p:cNvPr id="13" name="Text 11"/>
          <p:cNvSpPr/>
          <p:nvPr/>
        </p:nvSpPr>
        <p:spPr>
          <a:xfrm>
            <a:off x="5278120" y="2047241"/>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1A14"/>
                </a:solidFill>
                <a:latin typeface="DM Sans" pitchFamily="34" charset="0"/>
                <a:ea typeface="DM Sans" pitchFamily="34" charset="-122"/>
                <a:cs typeface="DM Sans" pitchFamily="34" charset="-120"/>
              </a:rPr>
              <a:t>Understand</a:t>
            </a:r>
            <a:endParaRPr lang="en-US" sz="1800" dirty="0"/>
          </a:p>
        </p:txBody>
      </p:sp>
      <p:sp>
        <p:nvSpPr>
          <p:cNvPr id="14" name="Text 12"/>
          <p:cNvSpPr/>
          <p:nvPr/>
        </p:nvSpPr>
        <p:spPr>
          <a:xfrm>
            <a:off x="5278120" y="2397761"/>
            <a:ext cx="168656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4A3E"/>
                </a:solidFill>
                <a:latin typeface="DM Sans" pitchFamily="34" charset="0"/>
                <a:ea typeface="DM Sans" pitchFamily="34" charset="-122"/>
                <a:cs typeface="DM Sans" pitchFamily="34" charset="-120"/>
              </a:rPr>
              <a:t>Gemma 4 reads the items and special notes.</a:t>
            </a:r>
            <a:endParaRPr lang="en-US" sz="1300" dirty="0"/>
          </a:p>
        </p:txBody>
      </p:sp>
      <p:sp>
        <p:nvSpPr>
          <p:cNvPr id="15" name="Shape 13"/>
          <p:cNvSpPr/>
          <p:nvPr/>
        </p:nvSpPr>
        <p:spPr>
          <a:xfrm>
            <a:off x="7244080" y="1508761"/>
            <a:ext cx="1991360" cy="1760220"/>
          </a:xfrm>
          <a:prstGeom prst="roundRect">
            <a:avLst>
              <a:gd name="adj" fmla="val 8658"/>
            </a:avLst>
          </a:prstGeom>
          <a:solidFill>
            <a:srgbClr val="FFFDF8"/>
          </a:solidFill>
          <a:ln/>
        </p:spPr>
      </p:sp>
      <p:sp>
        <p:nvSpPr>
          <p:cNvPr id="16" name="Text 14"/>
          <p:cNvSpPr/>
          <p:nvPr/>
        </p:nvSpPr>
        <p:spPr>
          <a:xfrm>
            <a:off x="7421880" y="1686561"/>
            <a:ext cx="16865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4A14"/>
                </a:solidFill>
                <a:latin typeface="DM Sans" pitchFamily="34" charset="0"/>
                <a:ea typeface="DM Sans" pitchFamily="34" charset="-122"/>
                <a:cs typeface="DM Sans" pitchFamily="34" charset="-120"/>
              </a:rPr>
              <a:t>04</a:t>
            </a:r>
            <a:endParaRPr lang="en-US" sz="1600" dirty="0"/>
          </a:p>
        </p:txBody>
      </p:sp>
      <p:sp>
        <p:nvSpPr>
          <p:cNvPr id="17" name="Text 15"/>
          <p:cNvSpPr/>
          <p:nvPr/>
        </p:nvSpPr>
        <p:spPr>
          <a:xfrm>
            <a:off x="7421880" y="2047241"/>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1A14"/>
                </a:solidFill>
                <a:latin typeface="DM Sans" pitchFamily="34" charset="0"/>
                <a:ea typeface="DM Sans" pitchFamily="34" charset="-122"/>
                <a:cs typeface="DM Sans" pitchFamily="34" charset="-120"/>
              </a:rPr>
              <a:t>Check</a:t>
            </a:r>
            <a:endParaRPr lang="en-US" sz="1800" dirty="0"/>
          </a:p>
        </p:txBody>
      </p:sp>
      <p:sp>
        <p:nvSpPr>
          <p:cNvPr id="18" name="Text 16"/>
          <p:cNvSpPr/>
          <p:nvPr/>
        </p:nvSpPr>
        <p:spPr>
          <a:xfrm>
            <a:off x="7421880" y="2397761"/>
            <a:ext cx="168656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4A3E"/>
                </a:solidFill>
                <a:latin typeface="DM Sans" pitchFamily="34" charset="0"/>
                <a:ea typeface="DM Sans" pitchFamily="34" charset="-122"/>
                <a:cs typeface="DM Sans" pitchFamily="34" charset="-120"/>
              </a:rPr>
              <a:t>Code checks the menu, the bill and the queue.</a:t>
            </a:r>
            <a:endParaRPr lang="en-US" sz="1300" dirty="0"/>
          </a:p>
        </p:txBody>
      </p:sp>
      <p:sp>
        <p:nvSpPr>
          <p:cNvPr id="19" name="Shape 17"/>
          <p:cNvSpPr/>
          <p:nvPr/>
        </p:nvSpPr>
        <p:spPr>
          <a:xfrm>
            <a:off x="9387840" y="1508761"/>
            <a:ext cx="1991360" cy="1760220"/>
          </a:xfrm>
          <a:prstGeom prst="roundRect">
            <a:avLst>
              <a:gd name="adj" fmla="val 8658"/>
            </a:avLst>
          </a:prstGeom>
          <a:solidFill>
            <a:srgbClr val="231A14"/>
          </a:solidFill>
          <a:ln/>
        </p:spPr>
      </p:sp>
      <p:sp>
        <p:nvSpPr>
          <p:cNvPr id="20" name="Text 18"/>
          <p:cNvSpPr/>
          <p:nvPr/>
        </p:nvSpPr>
        <p:spPr>
          <a:xfrm>
            <a:off x="9565640" y="1686561"/>
            <a:ext cx="16865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8A4B"/>
                </a:solidFill>
                <a:latin typeface="DM Sans" pitchFamily="34" charset="0"/>
                <a:ea typeface="DM Sans" pitchFamily="34" charset="-122"/>
                <a:cs typeface="DM Sans" pitchFamily="34" charset="-120"/>
              </a:rPr>
              <a:t>05</a:t>
            </a:r>
            <a:endParaRPr lang="en-US" sz="1600" dirty="0"/>
          </a:p>
        </p:txBody>
      </p:sp>
      <p:sp>
        <p:nvSpPr>
          <p:cNvPr id="21" name="Text 19"/>
          <p:cNvSpPr/>
          <p:nvPr/>
        </p:nvSpPr>
        <p:spPr>
          <a:xfrm>
            <a:off x="9565640" y="2047241"/>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5EA"/>
                </a:solidFill>
                <a:latin typeface="DM Sans" pitchFamily="34" charset="0"/>
                <a:ea typeface="DM Sans" pitchFamily="34" charset="-122"/>
                <a:cs typeface="DM Sans" pitchFamily="34" charset="-120"/>
              </a:rPr>
              <a:t>Collect</a:t>
            </a:r>
            <a:endParaRPr lang="en-US" sz="1800" dirty="0"/>
          </a:p>
        </p:txBody>
      </p:sp>
      <p:sp>
        <p:nvSpPr>
          <p:cNvPr id="22" name="Text 20"/>
          <p:cNvSpPr/>
          <p:nvPr/>
        </p:nvSpPr>
        <p:spPr>
          <a:xfrm>
            <a:off x="9565640" y="2397761"/>
            <a:ext cx="168656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D3BF"/>
                </a:solidFill>
                <a:latin typeface="DM Sans" pitchFamily="34" charset="0"/>
                <a:ea typeface="DM Sans" pitchFamily="34" charset="-122"/>
                <a:cs typeface="DM Sans" pitchFamily="34" charset="-120"/>
              </a:rPr>
              <a:t>You get a token. Show it to collect in about 8 minutes.</a:t>
            </a:r>
            <a:endParaRPr lang="en-US" sz="1300" dirty="0"/>
          </a:p>
        </p:txBody>
      </p:sp>
      <p:sp>
        <p:nvSpPr>
          <p:cNvPr id="23" name="Text 21"/>
          <p:cNvSpPr/>
          <p:nvPr/>
        </p:nvSpPr>
        <p:spPr>
          <a:xfrm>
            <a:off x="812800" y="3497580"/>
            <a:ext cx="1504632" cy="426720"/>
          </a:xfrm>
          <a:prstGeom prst="roundRect">
            <a:avLst>
              <a:gd name="adj" fmla="val 23810"/>
            </a:avLst>
          </a:prstGeom>
          <a:solidFill>
            <a:srgbClr val="FFFDF8"/>
          </a:solidFill>
          <a:ln/>
        </p:spPr>
        <p:txBody>
          <a:bodyPr wrap="none" lIns="0" tIns="0" rIns="0" bIns="0" rtlCol="0" anchor="ctr">
            <a:normAutofit/>
          </a:bodyPr>
          <a:lstStyle/>
          <a:p>
            <a:pPr algn="ctr" indent="0" marL="0">
              <a:lnSpc>
                <a:spcPts val="1960"/>
              </a:lnSpc>
              <a:buNone/>
            </a:pPr>
            <a:r>
              <a:rPr lang="en-US" sz="1400" b="1" dirty="0">
                <a:solidFill>
                  <a:srgbClr val="231A14"/>
                </a:solidFill>
                <a:latin typeface="DM Sans" pitchFamily="34" charset="0"/>
                <a:ea typeface="DM Sans" pitchFamily="34" charset="-122"/>
                <a:cs typeface="DM Sans" pitchFamily="34" charset="-120"/>
              </a:rPr>
              <a:t>Roll no. + chat</a:t>
            </a:r>
            <a:endParaRPr lang="en-US" sz="1400" dirty="0"/>
          </a:p>
        </p:txBody>
      </p:sp>
      <p:pic>
        <p:nvPicPr>
          <p:cNvPr id="24" name="Image 0" descr="arrow-right">    </p:cNvPr>
          <p:cNvPicPr>
            <a:picLocks noChangeAspect="1"/>
          </p:cNvPicPr>
          <p:nvPr/>
        </p:nvPicPr>
        <p:blipFill>
          <a:blip r:embed="rId1"/>
          <a:srcRect l="0" r="0" t="0" b="0"/>
          <a:stretch/>
        </p:blipFill>
        <p:spPr>
          <a:xfrm>
            <a:off x="2419033" y="3622041"/>
            <a:ext cx="304800" cy="177800"/>
          </a:xfrm>
          <a:prstGeom prst="rect">
            <a:avLst/>
          </a:prstGeom>
        </p:spPr>
      </p:pic>
      <p:sp>
        <p:nvSpPr>
          <p:cNvPr id="25" name="Text 22"/>
          <p:cNvSpPr/>
          <p:nvPr/>
        </p:nvSpPr>
        <p:spPr>
          <a:xfrm>
            <a:off x="2825433" y="3497580"/>
            <a:ext cx="1688624" cy="426720"/>
          </a:xfrm>
          <a:prstGeom prst="roundRect">
            <a:avLst>
              <a:gd name="adj" fmla="val 23810"/>
            </a:avLst>
          </a:prstGeom>
          <a:solidFill>
            <a:srgbClr val="231A14"/>
          </a:solidFill>
          <a:ln/>
        </p:spPr>
        <p:txBody>
          <a:bodyPr wrap="none" lIns="0" tIns="0" rIns="0" bIns="0" rtlCol="0" anchor="ctr">
            <a:normAutofit/>
          </a:bodyPr>
          <a:lstStyle/>
          <a:p>
            <a:pPr algn="ctr" indent="0" marL="0">
              <a:lnSpc>
                <a:spcPts val="1960"/>
              </a:lnSpc>
              <a:buNone/>
            </a:pPr>
            <a:r>
              <a:rPr lang="en-US" sz="1400" b="1" dirty="0">
                <a:solidFill>
                  <a:srgbClr val="F08A4B"/>
                </a:solidFill>
                <a:latin typeface="DM Sans" pitchFamily="34" charset="0"/>
                <a:ea typeface="DM Sans" pitchFamily="34" charset="-122"/>
                <a:cs typeface="DM Sans" pitchFamily="34" charset="-120"/>
              </a:rPr>
              <a:t>Gemma 4 agent</a:t>
            </a:r>
            <a:endParaRPr lang="en-US" sz="1400" dirty="0"/>
          </a:p>
        </p:txBody>
      </p:sp>
      <p:pic>
        <p:nvPicPr>
          <p:cNvPr id="26" name="Image 1" descr="arrow-right">    </p:cNvPr>
          <p:cNvPicPr>
            <a:picLocks noChangeAspect="1"/>
          </p:cNvPicPr>
          <p:nvPr/>
        </p:nvPicPr>
        <p:blipFill>
          <a:blip r:embed="rId2"/>
          <a:srcRect l="0" r="0" t="0" b="0"/>
          <a:stretch/>
        </p:blipFill>
        <p:spPr>
          <a:xfrm>
            <a:off x="4615656" y="3622041"/>
            <a:ext cx="304800" cy="177800"/>
          </a:xfrm>
          <a:prstGeom prst="rect">
            <a:avLst/>
          </a:prstGeom>
        </p:spPr>
      </p:pic>
      <p:sp>
        <p:nvSpPr>
          <p:cNvPr id="27" name="Text 23"/>
          <p:cNvSpPr/>
          <p:nvPr/>
        </p:nvSpPr>
        <p:spPr>
          <a:xfrm>
            <a:off x="5022056" y="3497580"/>
            <a:ext cx="2789634" cy="426720"/>
          </a:xfrm>
          <a:prstGeom prst="roundRect">
            <a:avLst>
              <a:gd name="adj" fmla="val 23810"/>
            </a:avLst>
          </a:prstGeom>
          <a:solidFill>
            <a:srgbClr val="FFFDF8"/>
          </a:solidFill>
          <a:ln/>
        </p:spPr>
        <p:txBody>
          <a:bodyPr wrap="none" lIns="0" tIns="0" rIns="0" bIns="0" rtlCol="0" anchor="ctr">
            <a:normAutofit/>
          </a:bodyPr>
          <a:lstStyle/>
          <a:p>
            <a:pPr algn="ctr" indent="0" marL="0">
              <a:lnSpc>
                <a:spcPts val="1960"/>
              </a:lnSpc>
              <a:buNone/>
            </a:pPr>
            <a:r>
              <a:rPr lang="en-US" sz="1400" b="1" dirty="0">
                <a:solidFill>
                  <a:srgbClr val="231A14"/>
                </a:solidFill>
                <a:latin typeface="DM Sans" pitchFamily="34" charset="0"/>
                <a:ea typeface="DM Sans" pitchFamily="34" charset="-122"/>
                <a:cs typeface="DM Sans" pitchFamily="34" charset="-120"/>
              </a:rPr>
              <a:t>Menu, queue and order tools</a:t>
            </a:r>
            <a:endParaRPr lang="en-US" sz="1400" dirty="0"/>
          </a:p>
        </p:txBody>
      </p:sp>
      <p:pic>
        <p:nvPicPr>
          <p:cNvPr id="28" name="Image 2" descr="arrow-right">    </p:cNvPr>
          <p:cNvPicPr>
            <a:picLocks noChangeAspect="1"/>
          </p:cNvPicPr>
          <p:nvPr/>
        </p:nvPicPr>
        <p:blipFill>
          <a:blip r:embed="rId3"/>
          <a:srcRect l="0" r="0" t="0" b="0"/>
          <a:stretch/>
        </p:blipFill>
        <p:spPr>
          <a:xfrm>
            <a:off x="7913291" y="3622041"/>
            <a:ext cx="304800" cy="177800"/>
          </a:xfrm>
          <a:prstGeom prst="rect">
            <a:avLst/>
          </a:prstGeom>
        </p:spPr>
      </p:pic>
      <p:sp>
        <p:nvSpPr>
          <p:cNvPr id="29" name="Text 24"/>
          <p:cNvSpPr/>
          <p:nvPr/>
        </p:nvSpPr>
        <p:spPr>
          <a:xfrm>
            <a:off x="8319691" y="3497580"/>
            <a:ext cx="1537573" cy="426720"/>
          </a:xfrm>
          <a:prstGeom prst="roundRect">
            <a:avLst>
              <a:gd name="adj" fmla="val 23810"/>
            </a:avLst>
          </a:prstGeom>
          <a:solidFill>
            <a:srgbClr val="FFFDF8"/>
          </a:solidFill>
          <a:ln/>
        </p:spPr>
        <p:txBody>
          <a:bodyPr wrap="none" lIns="0" tIns="0" rIns="0" bIns="0" rtlCol="0" anchor="ctr">
            <a:normAutofit/>
          </a:bodyPr>
          <a:lstStyle/>
          <a:p>
            <a:pPr algn="ctr" indent="0" marL="0">
              <a:lnSpc>
                <a:spcPts val="1960"/>
              </a:lnSpc>
              <a:buNone/>
            </a:pPr>
            <a:r>
              <a:rPr lang="en-US" sz="1400" b="1" dirty="0">
                <a:solidFill>
                  <a:srgbClr val="231A14"/>
                </a:solidFill>
                <a:latin typeface="DM Sans" pitchFamily="34" charset="0"/>
                <a:ea typeface="DM Sans" pitchFamily="34" charset="-122"/>
                <a:cs typeface="DM Sans" pitchFamily="34" charset="-120"/>
              </a:rPr>
              <a:t>Kitchen board</a:t>
            </a:r>
            <a:endParaRPr lang="en-US" sz="1400" dirty="0"/>
          </a:p>
        </p:txBody>
      </p:sp>
      <p:sp>
        <p:nvSpPr>
          <p:cNvPr id="30" name="Text 25"/>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C"/>
                </a:solidFill>
                <a:latin typeface="DM Sans" pitchFamily="34" charset="0"/>
                <a:ea typeface="DM Sans" pitchFamily="34" charset="-122"/>
                <a:cs typeface="DM Sans" pitchFamily="34" charset="-120"/>
              </a:rPr>
              <a:t>CanteenRush · Build with Gemma 4</a:t>
            </a:r>
            <a:endParaRPr lang="en-US" sz="1200" dirty="0"/>
          </a:p>
        </p:txBody>
      </p:sp>
      <p:sp>
        <p:nvSpPr>
          <p:cNvPr id="31" name="Text 2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6A5C"/>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5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1728"/>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231A14"/>
                </a:solidFill>
                <a:latin typeface="DM Sans" pitchFamily="34" charset="0"/>
                <a:ea typeface="DM Sans" pitchFamily="34" charset="-122"/>
                <a:cs typeface="DM Sans" pitchFamily="34" charset="-120"/>
              </a:rPr>
              <a:t>Student view: verify, order, get a token</a:t>
            </a:r>
            <a:endParaRPr lang="en-US" sz="3190" dirty="0"/>
          </a:p>
        </p:txBody>
      </p:sp>
      <p:sp>
        <p:nvSpPr>
          <p:cNvPr id="3" name="Shape 1"/>
          <p:cNvSpPr/>
          <p:nvPr/>
        </p:nvSpPr>
        <p:spPr>
          <a:xfrm>
            <a:off x="815975" y="1536303"/>
            <a:ext cx="6191250" cy="498316"/>
          </a:xfrm>
          <a:prstGeom prst="roundRect">
            <a:avLst>
              <a:gd name="adj" fmla="val 24849"/>
            </a:avLst>
          </a:prstGeom>
          <a:solidFill>
            <a:srgbClr val="FFFDF8"/>
          </a:solidFill>
          <a:ln w="6350">
            <a:solidFill>
              <a:srgbClr val="E5D6BE"/>
            </a:solidFill>
            <a:prstDash val="solid"/>
          </a:ln>
        </p:spPr>
      </p:sp>
      <p:sp>
        <p:nvSpPr>
          <p:cNvPr id="4" name="Text 2"/>
          <p:cNvSpPr/>
          <p:nvPr/>
        </p:nvSpPr>
        <p:spPr>
          <a:xfrm>
            <a:off x="995680" y="1661002"/>
            <a:ext cx="21707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A3E"/>
                </a:solidFill>
                <a:latin typeface="DM Sans" pitchFamily="34" charset="0"/>
                <a:ea typeface="DM Sans" pitchFamily="34" charset="-122"/>
                <a:cs typeface="DM Sans" pitchFamily="34" charset="-120"/>
              </a:rPr>
              <a:t>Step 1 · College roll no.</a:t>
            </a:r>
            <a:endParaRPr lang="en-US" sz="1400" dirty="0"/>
          </a:p>
        </p:txBody>
      </p:sp>
      <p:sp>
        <p:nvSpPr>
          <p:cNvPr id="5" name="Text 3"/>
          <p:cNvSpPr/>
          <p:nvPr/>
        </p:nvSpPr>
        <p:spPr>
          <a:xfrm>
            <a:off x="4889564" y="1652113"/>
            <a:ext cx="1937956"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1F6F5F"/>
                </a:solidFill>
                <a:latin typeface="DM Sans" pitchFamily="34" charset="0"/>
                <a:ea typeface="DM Sans" pitchFamily="34" charset="-122"/>
                <a:cs typeface="DM Sans" pitchFamily="34" charset="-120"/>
              </a:rPr>
              <a:t>23CS101 · Verified</a:t>
            </a:r>
            <a:endParaRPr lang="en-US" sz="1500" dirty="0"/>
          </a:p>
        </p:txBody>
      </p:sp>
      <p:sp>
        <p:nvSpPr>
          <p:cNvPr id="6" name="Text 4"/>
          <p:cNvSpPr/>
          <p:nvPr/>
        </p:nvSpPr>
        <p:spPr>
          <a:xfrm>
            <a:off x="812800" y="2164795"/>
            <a:ext cx="6197600" cy="851694"/>
          </a:xfrm>
          <a:prstGeom prst="roundRect">
            <a:avLst>
              <a:gd name="adj" fmla="val 17894"/>
            </a:avLst>
          </a:prstGeom>
          <a:solidFill>
            <a:srgbClr val="F6D9C0"/>
          </a:solidFill>
          <a:ln/>
        </p:spPr>
        <p:txBody>
          <a:bodyPr wrap="square" lIns="158564" tIns="107764" rIns="0" bIns="82364" rtlCol="0" anchor="t">
            <a:normAutofit/>
          </a:bodyPr>
          <a:lstStyle/>
          <a:p>
            <a:pPr algn="l" indent="0" marL="0">
              <a:lnSpc>
                <a:spcPts val="2160"/>
              </a:lnSpc>
              <a:buNone/>
            </a:pPr>
            <a:r>
              <a:rPr lang="en-US" sz="1600" dirty="0">
                <a:solidFill>
                  <a:srgbClr val="231A14"/>
                </a:solidFill>
                <a:latin typeface="DM Sans" pitchFamily="34" charset="0"/>
                <a:ea typeface="DM Sans" pitchFamily="34" charset="-122"/>
                <a:cs typeface="DM Sans" pitchFamily="34" charset="-120"/>
              </a:rPr>
              <a:t>Hey, I’m Rohan. Order 1 cold coffee and veg maggi, and make the maggi extra spicy.</a:t>
            </a:r>
            <a:endParaRPr lang="en-US" sz="1600" dirty="0"/>
          </a:p>
        </p:txBody>
      </p:sp>
      <p:sp>
        <p:nvSpPr>
          <p:cNvPr id="7" name="Text 5"/>
          <p:cNvSpPr/>
          <p:nvPr/>
        </p:nvSpPr>
        <p:spPr>
          <a:xfrm>
            <a:off x="812800" y="3143489"/>
            <a:ext cx="6383528" cy="255826"/>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4A14"/>
                </a:solidFill>
                <a:latin typeface="DM Sans" pitchFamily="34" charset="0"/>
                <a:ea typeface="DM Sans" pitchFamily="34" charset="-122"/>
                <a:cs typeface="DM Sans" pitchFamily="34" charset="-120"/>
              </a:rPr>
              <a:t>STEP 2 · TOKEN ISSUED (EXAMPLE)</a:t>
            </a:r>
            <a:endParaRPr lang="en-US" sz="1300" dirty="0"/>
          </a:p>
        </p:txBody>
      </p:sp>
      <p:sp>
        <p:nvSpPr>
          <p:cNvPr id="8" name="Shape 6"/>
          <p:cNvSpPr/>
          <p:nvPr/>
        </p:nvSpPr>
        <p:spPr>
          <a:xfrm>
            <a:off x="812800" y="3500915"/>
            <a:ext cx="6197600" cy="1753235"/>
          </a:xfrm>
          <a:prstGeom prst="roundRect">
            <a:avLst>
              <a:gd name="adj" fmla="val 8693"/>
            </a:avLst>
          </a:prstGeom>
          <a:solidFill>
            <a:srgbClr val="231A14"/>
          </a:solidFill>
          <a:ln/>
        </p:spPr>
      </p:sp>
      <p:sp>
        <p:nvSpPr>
          <p:cNvPr id="9" name="Text 7"/>
          <p:cNvSpPr/>
          <p:nvPr/>
        </p:nvSpPr>
        <p:spPr>
          <a:xfrm>
            <a:off x="1066800" y="3713640"/>
            <a:ext cx="5705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BA78F"/>
                </a:solidFill>
                <a:latin typeface="DM Sans" pitchFamily="34" charset="0"/>
                <a:ea typeface="DM Sans" pitchFamily="34" charset="-122"/>
                <a:cs typeface="DM Sans" pitchFamily="34" charset="-120"/>
              </a:rPr>
              <a:t>Token</a:t>
            </a:r>
            <a:endParaRPr lang="en-US" sz="1400" dirty="0"/>
          </a:p>
        </p:txBody>
      </p:sp>
      <p:sp>
        <p:nvSpPr>
          <p:cNvPr id="10" name="Text 8"/>
          <p:cNvSpPr/>
          <p:nvPr/>
        </p:nvSpPr>
        <p:spPr>
          <a:xfrm>
            <a:off x="6071457" y="3678160"/>
            <a:ext cx="684943" cy="345440"/>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F08A4B"/>
                </a:solidFill>
                <a:latin typeface="DM Sans" pitchFamily="34" charset="0"/>
                <a:ea typeface="DM Sans" pitchFamily="34" charset="-122"/>
                <a:cs typeface="DM Sans" pitchFamily="34" charset="-120"/>
              </a:rPr>
              <a:t>#102</a:t>
            </a:r>
            <a:endParaRPr lang="en-US" sz="1800" dirty="0"/>
          </a:p>
        </p:txBody>
      </p:sp>
      <p:sp>
        <p:nvSpPr>
          <p:cNvPr id="11" name="Text 9"/>
          <p:cNvSpPr/>
          <p:nvPr/>
        </p:nvSpPr>
        <p:spPr>
          <a:xfrm>
            <a:off x="1066800" y="4090987"/>
            <a:ext cx="47005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BA78F"/>
                </a:solidFill>
                <a:latin typeface="DM Sans" pitchFamily="34" charset="0"/>
                <a:ea typeface="DM Sans" pitchFamily="34" charset="-122"/>
                <a:cs typeface="DM Sans" pitchFamily="34" charset="-120"/>
              </a:rPr>
              <a:t>Total</a:t>
            </a:r>
            <a:endParaRPr lang="en-US" sz="1400" dirty="0"/>
          </a:p>
        </p:txBody>
      </p:sp>
      <p:sp>
        <p:nvSpPr>
          <p:cNvPr id="12" name="Text 10"/>
          <p:cNvSpPr/>
          <p:nvPr/>
        </p:nvSpPr>
        <p:spPr>
          <a:xfrm>
            <a:off x="4823873" y="4073209"/>
            <a:ext cx="1932527"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FBF5EA"/>
                </a:solidFill>
                <a:latin typeface="DM Sans" pitchFamily="34" charset="0"/>
                <a:ea typeface="DM Sans" pitchFamily="34" charset="-122"/>
                <a:cs typeface="DM Sans" pitchFamily="34" charset="-120"/>
              </a:rPr>
              <a:t>₹90 (₹50 + ₹40)</a:t>
            </a:r>
            <a:endParaRPr lang="en-US" sz="1600" dirty="0"/>
          </a:p>
        </p:txBody>
      </p:sp>
      <p:sp>
        <p:nvSpPr>
          <p:cNvPr id="13" name="Text 11"/>
          <p:cNvSpPr/>
          <p:nvPr/>
        </p:nvSpPr>
        <p:spPr>
          <a:xfrm>
            <a:off x="1066800" y="4450556"/>
            <a:ext cx="84048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BA78F"/>
                </a:solidFill>
                <a:latin typeface="DM Sans" pitchFamily="34" charset="0"/>
                <a:ea typeface="DM Sans" pitchFamily="34" charset="-122"/>
                <a:cs typeface="DM Sans" pitchFamily="34" charset="-120"/>
              </a:rPr>
              <a:t>Ready in</a:t>
            </a:r>
            <a:endParaRPr lang="en-US" sz="1400" dirty="0"/>
          </a:p>
        </p:txBody>
      </p:sp>
      <p:sp>
        <p:nvSpPr>
          <p:cNvPr id="14" name="Text 12"/>
          <p:cNvSpPr/>
          <p:nvPr/>
        </p:nvSpPr>
        <p:spPr>
          <a:xfrm>
            <a:off x="4804632" y="4432855"/>
            <a:ext cx="1951768"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FBF5EA"/>
                </a:solidFill>
                <a:latin typeface="DM Sans" pitchFamily="34" charset="0"/>
                <a:ea typeface="DM Sans" pitchFamily="34" charset="-122"/>
                <a:cs typeface="DM Sans" pitchFamily="34" charset="-120"/>
              </a:rPr>
              <a:t>about 8 minutes</a:t>
            </a:r>
            <a:endParaRPr lang="en-US" sz="1600" dirty="0"/>
          </a:p>
        </p:txBody>
      </p:sp>
      <p:sp>
        <p:nvSpPr>
          <p:cNvPr id="15" name="Text 13"/>
          <p:cNvSpPr/>
          <p:nvPr/>
        </p:nvSpPr>
        <p:spPr>
          <a:xfrm>
            <a:off x="1066800" y="4810206"/>
            <a:ext cx="149123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BA78F"/>
                </a:solidFill>
                <a:latin typeface="DM Sans" pitchFamily="34" charset="0"/>
                <a:ea typeface="DM Sans" pitchFamily="34" charset="-122"/>
                <a:cs typeface="DM Sans" pitchFamily="34" charset="-120"/>
              </a:rPr>
              <a:t>Pickup counter</a:t>
            </a:r>
            <a:endParaRPr lang="en-US" sz="1400" dirty="0"/>
          </a:p>
        </p:txBody>
      </p:sp>
      <p:sp>
        <p:nvSpPr>
          <p:cNvPr id="16" name="Text 14"/>
          <p:cNvSpPr/>
          <p:nvPr/>
        </p:nvSpPr>
        <p:spPr>
          <a:xfrm>
            <a:off x="5579777" y="4792424"/>
            <a:ext cx="1176623"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FBF5EA"/>
                </a:solidFill>
                <a:latin typeface="DM Sans" pitchFamily="34" charset="0"/>
                <a:ea typeface="DM Sans" pitchFamily="34" charset="-122"/>
                <a:cs typeface="DM Sans" pitchFamily="34" charset="-120"/>
              </a:rPr>
              <a:t>Counter 2</a:t>
            </a:r>
            <a:endParaRPr lang="en-US" sz="1600" dirty="0"/>
          </a:p>
        </p:txBody>
      </p:sp>
      <p:sp>
        <p:nvSpPr>
          <p:cNvPr id="17" name="Text 15"/>
          <p:cNvSpPr/>
          <p:nvPr/>
        </p:nvSpPr>
        <p:spPr>
          <a:xfrm>
            <a:off x="812800" y="5381151"/>
            <a:ext cx="6383528" cy="48625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A4A3E"/>
                </a:solidFill>
                <a:latin typeface="DM Sans" pitchFamily="34" charset="0"/>
                <a:ea typeface="DM Sans" pitchFamily="34" charset="-122"/>
                <a:cs typeface="DM Sans" pitchFamily="34" charset="-120"/>
              </a:rPr>
              <a:t>Roll number first, token after the order.</a:t>
            </a:r>
            <a:r>
              <a:rPr lang="en-US" sz="1300" dirty="0">
                <a:solidFill>
                  <a:srgbClr val="5A4A3E"/>
                </a:solidFill>
                <a:latin typeface="DM Sans" pitchFamily="34" charset="0"/>
                <a:ea typeface="DM Sans" pitchFamily="34" charset="-122"/>
                <a:cs typeface="DM Sans" pitchFamily="34" charset="-120"/>
              </a:rPr>
              <a:t> Show the token at the counter to collect.</a:t>
            </a:r>
            <a:endParaRPr lang="en-US" sz="1300" dirty="0"/>
          </a:p>
        </p:txBody>
      </p:sp>
      <p:sp>
        <p:nvSpPr>
          <p:cNvPr id="18" name="Text 16"/>
          <p:cNvSpPr/>
          <p:nvPr/>
        </p:nvSpPr>
        <p:spPr>
          <a:xfrm>
            <a:off x="7315200" y="1533128"/>
            <a:ext cx="41859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1A14"/>
                </a:solidFill>
                <a:latin typeface="DM Sans" pitchFamily="34" charset="0"/>
                <a:ea typeface="DM Sans" pitchFamily="34" charset="-122"/>
                <a:cs typeface="DM Sans" pitchFamily="34" charset="-120"/>
              </a:rPr>
              <a:t>It also handles</a:t>
            </a:r>
            <a:endParaRPr lang="en-US" sz="2000" dirty="0"/>
          </a:p>
        </p:txBody>
      </p:sp>
      <p:sp>
        <p:nvSpPr>
          <p:cNvPr id="19" name="Shape 17"/>
          <p:cNvSpPr/>
          <p:nvPr/>
        </p:nvSpPr>
        <p:spPr>
          <a:xfrm>
            <a:off x="7318375" y="1968103"/>
            <a:ext cx="4057650" cy="1126490"/>
          </a:xfrm>
          <a:prstGeom prst="roundRect">
            <a:avLst>
              <a:gd name="adj" fmla="val 10992"/>
            </a:avLst>
          </a:prstGeom>
          <a:solidFill>
            <a:srgbClr val="FFFDF8"/>
          </a:solidFill>
          <a:ln w="6350">
            <a:solidFill>
              <a:srgbClr val="E5D6BE"/>
            </a:solidFill>
            <a:prstDash val="solid"/>
          </a:ln>
        </p:spPr>
      </p:sp>
      <p:sp>
        <p:nvSpPr>
          <p:cNvPr id="20" name="Text 18"/>
          <p:cNvSpPr/>
          <p:nvPr/>
        </p:nvSpPr>
        <p:spPr>
          <a:xfrm>
            <a:off x="7498080" y="2147810"/>
            <a:ext cx="380918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31A14"/>
                </a:solidFill>
                <a:latin typeface="DM Sans" pitchFamily="34" charset="0"/>
                <a:ea typeface="DM Sans" pitchFamily="34" charset="-122"/>
                <a:cs typeface="DM Sans" pitchFamily="34" charset="-120"/>
              </a:rPr>
              <a:t>Budget questions</a:t>
            </a:r>
            <a:endParaRPr lang="en-US" sz="1500" dirty="0"/>
          </a:p>
        </p:txBody>
      </p:sp>
      <p:sp>
        <p:nvSpPr>
          <p:cNvPr id="21" name="Text 19"/>
          <p:cNvSpPr/>
          <p:nvPr/>
        </p:nvSpPr>
        <p:spPr>
          <a:xfrm>
            <a:off x="7498080" y="2452610"/>
            <a:ext cx="380918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4A3E"/>
                </a:solidFill>
                <a:latin typeface="DM Sans" pitchFamily="34" charset="0"/>
                <a:ea typeface="DM Sans" pitchFamily="34" charset="-122"/>
                <a:cs typeface="DM Sans" pitchFamily="34" charset="-120"/>
              </a:rPr>
              <a:t>“I only have ₹80, what’s quick?” gets fast items within budget.</a:t>
            </a:r>
            <a:endParaRPr lang="en-US" sz="1300" dirty="0"/>
          </a:p>
        </p:txBody>
      </p:sp>
      <p:sp>
        <p:nvSpPr>
          <p:cNvPr id="22" name="Shape 20"/>
          <p:cNvSpPr/>
          <p:nvPr/>
        </p:nvSpPr>
        <p:spPr>
          <a:xfrm>
            <a:off x="7318375" y="3227943"/>
            <a:ext cx="4057650" cy="1126490"/>
          </a:xfrm>
          <a:prstGeom prst="roundRect">
            <a:avLst>
              <a:gd name="adj" fmla="val 10992"/>
            </a:avLst>
          </a:prstGeom>
          <a:solidFill>
            <a:srgbClr val="FFFDF8"/>
          </a:solidFill>
          <a:ln w="6350">
            <a:solidFill>
              <a:srgbClr val="E5D6BE"/>
            </a:solidFill>
            <a:prstDash val="solid"/>
          </a:ln>
        </p:spPr>
      </p:sp>
      <p:sp>
        <p:nvSpPr>
          <p:cNvPr id="23" name="Text 21"/>
          <p:cNvSpPr/>
          <p:nvPr/>
        </p:nvSpPr>
        <p:spPr>
          <a:xfrm>
            <a:off x="7498080" y="3407649"/>
            <a:ext cx="380918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31A14"/>
                </a:solidFill>
                <a:latin typeface="DM Sans" pitchFamily="34" charset="0"/>
                <a:ea typeface="DM Sans" pitchFamily="34" charset="-122"/>
                <a:cs typeface="DM Sans" pitchFamily="34" charset="-120"/>
              </a:rPr>
              <a:t>Hinglish and notes</a:t>
            </a:r>
            <a:endParaRPr lang="en-US" sz="1500" dirty="0"/>
          </a:p>
        </p:txBody>
      </p:sp>
      <p:sp>
        <p:nvSpPr>
          <p:cNvPr id="24" name="Text 22"/>
          <p:cNvSpPr/>
          <p:nvPr/>
        </p:nvSpPr>
        <p:spPr>
          <a:xfrm>
            <a:off x="7498080" y="3712449"/>
            <a:ext cx="380918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4A3E"/>
                </a:solidFill>
                <a:latin typeface="DM Sans" pitchFamily="34" charset="0"/>
                <a:ea typeface="DM Sans" pitchFamily="34" charset="-122"/>
                <a:cs typeface="DM Sans" pitchFamily="34" charset="-120"/>
              </a:rPr>
              <a:t>Custom requests like “less cheese” go straight to the kitchen.</a:t>
            </a:r>
            <a:endParaRPr lang="en-US" sz="1300" dirty="0"/>
          </a:p>
        </p:txBody>
      </p:sp>
      <p:sp>
        <p:nvSpPr>
          <p:cNvPr id="25" name="Shape 23"/>
          <p:cNvSpPr/>
          <p:nvPr/>
        </p:nvSpPr>
        <p:spPr>
          <a:xfrm>
            <a:off x="7318375" y="4487785"/>
            <a:ext cx="4057650" cy="895350"/>
          </a:xfrm>
          <a:prstGeom prst="roundRect">
            <a:avLst>
              <a:gd name="adj" fmla="val 13830"/>
            </a:avLst>
          </a:prstGeom>
          <a:solidFill>
            <a:srgbClr val="FFFDF8"/>
          </a:solidFill>
          <a:ln w="6350">
            <a:solidFill>
              <a:srgbClr val="E5D6BE"/>
            </a:solidFill>
            <a:prstDash val="solid"/>
          </a:ln>
        </p:spPr>
      </p:sp>
      <p:sp>
        <p:nvSpPr>
          <p:cNvPr id="26" name="Text 24"/>
          <p:cNvSpPr/>
          <p:nvPr/>
        </p:nvSpPr>
        <p:spPr>
          <a:xfrm>
            <a:off x="7498080" y="4667489"/>
            <a:ext cx="380918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31A14"/>
                </a:solidFill>
                <a:latin typeface="DM Sans" pitchFamily="34" charset="0"/>
                <a:ea typeface="DM Sans" pitchFamily="34" charset="-122"/>
                <a:cs typeface="DM Sans" pitchFamily="34" charset="-120"/>
              </a:rPr>
              <a:t>Items not on the menu</a:t>
            </a:r>
            <a:endParaRPr lang="en-US" sz="1500" dirty="0"/>
          </a:p>
        </p:txBody>
      </p:sp>
      <p:sp>
        <p:nvSpPr>
          <p:cNvPr id="27" name="Text 25"/>
          <p:cNvSpPr/>
          <p:nvPr/>
        </p:nvSpPr>
        <p:spPr>
          <a:xfrm>
            <a:off x="7498080" y="4972289"/>
            <a:ext cx="380918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4A3E"/>
                </a:solidFill>
                <a:latin typeface="DM Sans" pitchFamily="34" charset="0"/>
                <a:ea typeface="DM Sans" pitchFamily="34" charset="-122"/>
                <a:cs typeface="DM Sans" pitchFamily="34" charset="-120"/>
              </a:rPr>
              <a:t>Offers the closest available alternative.</a:t>
            </a:r>
            <a:endParaRPr lang="en-US" sz="1300" dirty="0"/>
          </a:p>
        </p:txBody>
      </p:sp>
      <p:sp>
        <p:nvSpPr>
          <p:cNvPr id="28" name="Text 26"/>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C"/>
                </a:solidFill>
                <a:latin typeface="DM Sans" pitchFamily="34" charset="0"/>
                <a:ea typeface="DM Sans" pitchFamily="34" charset="-122"/>
                <a:cs typeface="DM Sans" pitchFamily="34" charset="-120"/>
              </a:rPr>
              <a:t>CanteenRush · Build with Gemma 4</a:t>
            </a:r>
            <a:endParaRPr lang="en-US" sz="1200" dirty="0"/>
          </a:p>
        </p:txBody>
      </p:sp>
      <p:sp>
        <p:nvSpPr>
          <p:cNvPr id="29" name="Text 2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6A5C"/>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31A1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BF5EA"/>
                </a:solidFill>
                <a:latin typeface="DM Sans" pitchFamily="34" charset="0"/>
                <a:ea typeface="DM Sans" pitchFamily="34" charset="-122"/>
                <a:cs typeface="DM Sans" pitchFamily="34" charset="-120"/>
              </a:rPr>
              <a:t>Kitchen view: the live order board</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44321"/>
          <a:ext cx="10556240" cy="1747520"/>
        </p:xfrm>
        <a:graphic>
          <a:graphicData uri="http://schemas.openxmlformats.org/drawingml/2006/table">
            <a:tbl>
              <a:tblPr/>
              <a:tblGrid>
                <a:gridCol w="1477874"/>
                <a:gridCol w="1900123"/>
                <a:gridCol w="4855870"/>
                <a:gridCol w="2322373"/>
              </a:tblGrid>
              <a:tr h="436880">
                <a:tc>
                  <a:txBody>
                    <a:bodyPr/>
                    <a:lstStyle/>
                    <a:p>
                      <a:pPr indent="0" marL="0">
                        <a:lnSpc>
                          <a:spcPts val="2240"/>
                        </a:lnSpc>
                        <a:buNone/>
                      </a:pPr>
                      <a:r>
                        <a:rPr lang="en-US" sz="1600" b="1" dirty="0">
                          <a:solidFill>
                            <a:srgbClr val="F08A4B"/>
                          </a:solidFill>
                          <a:latin typeface="DM Sans" pitchFamily="34" charset="0"/>
                          <a:ea typeface="DM Sans" pitchFamily="34" charset="-122"/>
                          <a:cs typeface="DM Sans" pitchFamily="34" charset="-120"/>
                        </a:rPr>
                        <a:t>Token</a:t>
                      </a:r>
                      <a:endParaRPr lang="en-US" sz="1600" dirty="0">
                        <a:latin typeface="DM Sans" charset="0"/>
                        <a:ea typeface="DM Sans" charset="0"/>
                        <a:cs typeface="DM Sans" charset="0"/>
                      </a:endParaRPr>
                    </a:p>
                  </a:txBody>
                  <a:tcPr marL="71120" marR="71120" marT="71120" marB="71120" anchor="t">
                    <a:lnL w="12700" cap="flat" cmpd="sng" algn="ctr">
                      <a:solidFill>
                        <a:srgbClr val="524B46"/>
                      </a:solidFill>
                      <a:prstDash val="solid"/>
                      <a:round/>
                      <a:headEnd type="none" w="med" len="med"/>
                      <a:tailEnd type="none" w="med" len="med"/>
                    </a:lnL>
                    <a:lnR w="12700" cap="flat" cmpd="sng" algn="ctr">
                      <a:solidFill>
                        <a:srgbClr val="645950"/>
                      </a:solidFill>
                      <a:prstDash val="solid"/>
                      <a:round/>
                      <a:headEnd type="none" w="med" len="med"/>
                      <a:tailEnd type="none" w="med" len="med"/>
                    </a:lnR>
                    <a:lnT w="12700" cap="flat" cmpd="sng" algn="ctr">
                      <a:solidFill>
                        <a:srgbClr val="524B46"/>
                      </a:solidFill>
                      <a:prstDash val="solid"/>
                      <a:round/>
                      <a:headEnd type="none" w="med" len="med"/>
                      <a:tailEnd type="none" w="med" len="med"/>
                    </a:lnT>
                    <a:lnB w="12700" cap="flat" cmpd="sng" algn="ctr">
                      <a:solidFill>
                        <a:srgbClr val="645950"/>
                      </a:solidFill>
                      <a:prstDash val="solid"/>
                      <a:round/>
                      <a:headEnd type="none" w="med" len="med"/>
                      <a:tailEnd type="none" w="med" len="med"/>
                    </a:lnB>
                    <a:solidFill>
                      <a:srgbClr val="3A2C21"/>
                    </a:solidFill>
                  </a:tcPr>
                </a:tc>
                <a:tc>
                  <a:txBody>
                    <a:bodyPr/>
                    <a:lstStyle/>
                    <a:p>
                      <a:pPr indent="0" marL="0">
                        <a:lnSpc>
                          <a:spcPts val="2240"/>
                        </a:lnSpc>
                        <a:buNone/>
                      </a:pPr>
                      <a:r>
                        <a:rPr lang="en-US" sz="1600" b="1" dirty="0">
                          <a:solidFill>
                            <a:srgbClr val="F08A4B"/>
                          </a:solidFill>
                          <a:latin typeface="DM Sans" pitchFamily="34" charset="0"/>
                          <a:ea typeface="DM Sans" pitchFamily="34" charset="-122"/>
                          <a:cs typeface="DM Sans" pitchFamily="34" charset="-120"/>
                        </a:rPr>
                        <a:t>Student</a:t>
                      </a:r>
                      <a:endParaRPr lang="en-US" sz="1600" dirty="0">
                        <a:latin typeface="DM Sans" charset="0"/>
                        <a:ea typeface="DM Sans" charset="0"/>
                        <a:cs typeface="DM Sans" charset="0"/>
                      </a:endParaRPr>
                    </a:p>
                  </a:txBody>
                  <a:tcPr marL="71120" marR="71120" marT="71120" marB="71120" anchor="t">
                    <a:lnL w="12700" cap="flat" cmpd="sng" algn="ctr">
                      <a:solidFill>
                        <a:srgbClr val="645950"/>
                      </a:solidFill>
                      <a:prstDash val="solid"/>
                      <a:round/>
                      <a:headEnd type="none" w="med" len="med"/>
                      <a:tailEnd type="none" w="med" len="med"/>
                    </a:lnL>
                    <a:lnR w="12700" cap="flat" cmpd="sng" algn="ctr">
                      <a:solidFill>
                        <a:srgbClr val="645950"/>
                      </a:solidFill>
                      <a:prstDash val="solid"/>
                      <a:round/>
                      <a:headEnd type="none" w="med" len="med"/>
                      <a:tailEnd type="none" w="med" len="med"/>
                    </a:lnR>
                    <a:lnT w="12700" cap="flat" cmpd="sng" algn="ctr">
                      <a:solidFill>
                        <a:srgbClr val="524B46"/>
                      </a:solidFill>
                      <a:prstDash val="solid"/>
                      <a:round/>
                      <a:headEnd type="none" w="med" len="med"/>
                      <a:tailEnd type="none" w="med" len="med"/>
                    </a:lnT>
                    <a:lnB w="12700" cap="flat" cmpd="sng" algn="ctr">
                      <a:solidFill>
                        <a:srgbClr val="645950"/>
                      </a:solidFill>
                      <a:prstDash val="solid"/>
                      <a:round/>
                      <a:headEnd type="none" w="med" len="med"/>
                      <a:tailEnd type="none" w="med" len="med"/>
                    </a:lnB>
                    <a:solidFill>
                      <a:srgbClr val="3A2C21"/>
                    </a:solidFill>
                  </a:tcPr>
                </a:tc>
                <a:tc>
                  <a:txBody>
                    <a:bodyPr/>
                    <a:lstStyle/>
                    <a:p>
                      <a:pPr indent="0" marL="0">
                        <a:lnSpc>
                          <a:spcPts val="2240"/>
                        </a:lnSpc>
                        <a:buNone/>
                      </a:pPr>
                      <a:r>
                        <a:rPr lang="en-US" sz="1600" b="1" dirty="0">
                          <a:solidFill>
                            <a:srgbClr val="F08A4B"/>
                          </a:solidFill>
                          <a:latin typeface="DM Sans" pitchFamily="34" charset="0"/>
                          <a:ea typeface="DM Sans" pitchFamily="34" charset="-122"/>
                          <a:cs typeface="DM Sans" pitchFamily="34" charset="-120"/>
                        </a:rPr>
                        <a:t>Items and notes</a:t>
                      </a:r>
                      <a:endParaRPr lang="en-US" sz="1600" dirty="0">
                        <a:latin typeface="DM Sans" charset="0"/>
                        <a:ea typeface="DM Sans" charset="0"/>
                        <a:cs typeface="DM Sans" charset="0"/>
                      </a:endParaRPr>
                    </a:p>
                  </a:txBody>
                  <a:tcPr marL="71120" marR="71120" marT="71120" marB="71120" anchor="t">
                    <a:lnL w="12700" cap="flat" cmpd="sng" algn="ctr">
                      <a:solidFill>
                        <a:srgbClr val="645950"/>
                      </a:solidFill>
                      <a:prstDash val="solid"/>
                      <a:round/>
                      <a:headEnd type="none" w="med" len="med"/>
                      <a:tailEnd type="none" w="med" len="med"/>
                    </a:lnL>
                    <a:lnR w="12700" cap="flat" cmpd="sng" algn="ctr">
                      <a:solidFill>
                        <a:srgbClr val="645950"/>
                      </a:solidFill>
                      <a:prstDash val="solid"/>
                      <a:round/>
                      <a:headEnd type="none" w="med" len="med"/>
                      <a:tailEnd type="none" w="med" len="med"/>
                    </a:lnR>
                    <a:lnT w="12700" cap="flat" cmpd="sng" algn="ctr">
                      <a:solidFill>
                        <a:srgbClr val="524B46"/>
                      </a:solidFill>
                      <a:prstDash val="solid"/>
                      <a:round/>
                      <a:headEnd type="none" w="med" len="med"/>
                      <a:tailEnd type="none" w="med" len="med"/>
                    </a:lnT>
                    <a:lnB w="12700" cap="flat" cmpd="sng" algn="ctr">
                      <a:solidFill>
                        <a:srgbClr val="645950"/>
                      </a:solidFill>
                      <a:prstDash val="solid"/>
                      <a:round/>
                      <a:headEnd type="none" w="med" len="med"/>
                      <a:tailEnd type="none" w="med" len="med"/>
                    </a:lnB>
                    <a:solidFill>
                      <a:srgbClr val="3A2C21"/>
                    </a:solidFill>
                  </a:tcPr>
                </a:tc>
                <a:tc>
                  <a:txBody>
                    <a:bodyPr/>
                    <a:lstStyle/>
                    <a:p>
                      <a:pPr indent="0" marL="0">
                        <a:lnSpc>
                          <a:spcPts val="2240"/>
                        </a:lnSpc>
                        <a:buNone/>
                      </a:pPr>
                      <a:r>
                        <a:rPr lang="en-US" sz="1600" b="1" dirty="0">
                          <a:solidFill>
                            <a:srgbClr val="F08A4B"/>
                          </a:solidFill>
                          <a:latin typeface="DM Sans" pitchFamily="34" charset="0"/>
                          <a:ea typeface="DM Sans" pitchFamily="34" charset="-122"/>
                          <a:cs typeface="DM Sans" pitchFamily="34" charset="-120"/>
                        </a:rPr>
                        <a:t>Status</a:t>
                      </a:r>
                      <a:endParaRPr lang="en-US" sz="1600" dirty="0">
                        <a:latin typeface="DM Sans" charset="0"/>
                        <a:ea typeface="DM Sans" charset="0"/>
                        <a:cs typeface="DM Sans" charset="0"/>
                      </a:endParaRPr>
                    </a:p>
                  </a:txBody>
                  <a:tcPr marL="71120" marR="71120" marT="71120" marB="71120" anchor="t">
                    <a:lnL w="12700" cap="flat" cmpd="sng" algn="ctr">
                      <a:solidFill>
                        <a:srgbClr val="645950"/>
                      </a:solidFill>
                      <a:prstDash val="solid"/>
                      <a:round/>
                      <a:headEnd type="none" w="med" len="med"/>
                      <a:tailEnd type="none" w="med" len="med"/>
                    </a:lnL>
                    <a:lnR w="12700" cap="flat" cmpd="sng" algn="ctr">
                      <a:solidFill>
                        <a:srgbClr val="645950"/>
                      </a:solidFill>
                      <a:prstDash val="solid"/>
                      <a:round/>
                      <a:headEnd type="none" w="med" len="med"/>
                      <a:tailEnd type="none" w="med" len="med"/>
                    </a:lnR>
                    <a:lnT w="12700" cap="flat" cmpd="sng" algn="ctr">
                      <a:solidFill>
                        <a:srgbClr val="524B46"/>
                      </a:solidFill>
                      <a:prstDash val="solid"/>
                      <a:round/>
                      <a:headEnd type="none" w="med" len="med"/>
                      <a:tailEnd type="none" w="med" len="med"/>
                    </a:lnT>
                    <a:lnB w="12700" cap="flat" cmpd="sng" algn="ctr">
                      <a:solidFill>
                        <a:srgbClr val="645950"/>
                      </a:solidFill>
                      <a:prstDash val="solid"/>
                      <a:round/>
                      <a:headEnd type="none" w="med" len="med"/>
                      <a:tailEnd type="none" w="med" len="med"/>
                    </a:lnB>
                    <a:solidFill>
                      <a:srgbClr val="3A2C21"/>
                    </a:solidFill>
                  </a:tcPr>
                </a:tc>
              </a:tr>
              <a:tr h="436880">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#101</a:t>
                      </a:r>
                      <a:endParaRPr lang="en-US" sz="1600" dirty="0">
                        <a:latin typeface="DM Sans" charset="0"/>
                        <a:ea typeface="DM Sans" charset="0"/>
                        <a:cs typeface="DM Sans" charset="0"/>
                      </a:endParaRPr>
                    </a:p>
                  </a:txBody>
                  <a:tcPr marL="71120" marR="71120" marT="71120" marB="71120" anchor="t">
                    <a:lnL w="12700" cap="flat" cmpd="sng" algn="ctr">
                      <a:solidFill>
                        <a:srgbClr val="524B46"/>
                      </a:solidFill>
                      <a:prstDash val="solid"/>
                      <a:round/>
                      <a:headEnd type="none" w="med" len="med"/>
                      <a:tailEnd type="none" w="med" len="med"/>
                    </a:lnL>
                    <a:lnR w="12700" cap="flat" cmpd="sng" algn="ctr">
                      <a:solidFill>
                        <a:srgbClr val="5B524B"/>
                      </a:solidFill>
                      <a:prstDash val="solid"/>
                      <a:round/>
                      <a:headEnd type="none" w="med" len="med"/>
                      <a:tailEnd type="none" w="med" len="med"/>
                    </a:lnR>
                    <a:lnT w="12700" cap="flat" cmpd="sng" algn="ctr">
                      <a:solidFill>
                        <a:srgbClr val="645950"/>
                      </a:solidFill>
                      <a:prstDash val="solid"/>
                      <a:round/>
                      <a:headEnd type="none" w="med" len="med"/>
                      <a:tailEnd type="none" w="med" len="med"/>
                    </a:lnT>
                    <a:lnB w="12700" cap="flat" cmpd="sng" algn="ctr">
                      <a:solidFill>
                        <a:srgbClr val="5B524B"/>
                      </a:solidFill>
                      <a:prstDash val="solid"/>
                      <a:round/>
                      <a:headEnd type="none" w="med" len="med"/>
                      <a:tailEnd type="none" w="med" len="med"/>
                    </a:lnB>
                    <a:solidFill>
                      <a:srgbClr val="2E231B"/>
                    </a:solidFill>
                  </a:tcPr>
                </a:tc>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Priya</a:t>
                      </a:r>
                      <a:endParaRPr lang="en-US" sz="1600" dirty="0">
                        <a:latin typeface="DM Sans" charset="0"/>
                        <a:ea typeface="DM Sans" charset="0"/>
                        <a:cs typeface="DM Sans" charset="0"/>
                      </a:endParaRPr>
                    </a:p>
                  </a:txBody>
                  <a:tcPr marL="71120" marR="71120" marT="71120" marB="71120" anchor="t">
                    <a:lnL w="12700" cap="flat" cmpd="sng" algn="ctr">
                      <a:solidFill>
                        <a:srgbClr val="5B524B"/>
                      </a:solidFill>
                      <a:prstDash val="solid"/>
                      <a:round/>
                      <a:headEnd type="none" w="med" len="med"/>
                      <a:tailEnd type="none" w="med" len="med"/>
                    </a:lnL>
                    <a:lnR w="12700" cap="flat" cmpd="sng" algn="ctr">
                      <a:solidFill>
                        <a:srgbClr val="5B524B"/>
                      </a:solidFill>
                      <a:prstDash val="solid"/>
                      <a:round/>
                      <a:headEnd type="none" w="med" len="med"/>
                      <a:tailEnd type="none" w="med" len="med"/>
                    </a:lnR>
                    <a:lnT w="12700" cap="flat" cmpd="sng" algn="ctr">
                      <a:solidFill>
                        <a:srgbClr val="645950"/>
                      </a:solidFill>
                      <a:prstDash val="solid"/>
                      <a:round/>
                      <a:headEnd type="none" w="med" len="med"/>
                      <a:tailEnd type="none" w="med" len="med"/>
                    </a:lnT>
                    <a:lnB w="12700" cap="flat" cmpd="sng" algn="ctr">
                      <a:solidFill>
                        <a:srgbClr val="5B524B"/>
                      </a:solidFill>
                      <a:prstDash val="solid"/>
                      <a:round/>
                      <a:headEnd type="none" w="med" len="med"/>
                      <a:tailEnd type="none" w="med" len="med"/>
                    </a:lnB>
                    <a:solidFill>
                      <a:srgbClr val="2E231B"/>
                    </a:solidFill>
                  </a:tcPr>
                </a:tc>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Cheese Grilled Sandwich</a:t>
                      </a:r>
                      <a:endParaRPr lang="en-US" sz="1600" dirty="0">
                        <a:latin typeface="DM Sans" charset="0"/>
                        <a:ea typeface="DM Sans" charset="0"/>
                        <a:cs typeface="DM Sans" charset="0"/>
                      </a:endParaRPr>
                    </a:p>
                  </a:txBody>
                  <a:tcPr marL="71120" marR="71120" marT="71120" marB="71120" anchor="t">
                    <a:lnL w="12700" cap="flat" cmpd="sng" algn="ctr">
                      <a:solidFill>
                        <a:srgbClr val="5B524B"/>
                      </a:solidFill>
                      <a:prstDash val="solid"/>
                      <a:round/>
                      <a:headEnd type="none" w="med" len="med"/>
                      <a:tailEnd type="none" w="med" len="med"/>
                    </a:lnL>
                    <a:lnR w="12700" cap="flat" cmpd="sng" algn="ctr">
                      <a:solidFill>
                        <a:srgbClr val="5B524B"/>
                      </a:solidFill>
                      <a:prstDash val="solid"/>
                      <a:round/>
                      <a:headEnd type="none" w="med" len="med"/>
                      <a:tailEnd type="none" w="med" len="med"/>
                    </a:lnR>
                    <a:lnT w="12700" cap="flat" cmpd="sng" algn="ctr">
                      <a:solidFill>
                        <a:srgbClr val="645950"/>
                      </a:solidFill>
                      <a:prstDash val="solid"/>
                      <a:round/>
                      <a:headEnd type="none" w="med" len="med"/>
                      <a:tailEnd type="none" w="med" len="med"/>
                    </a:lnT>
                    <a:lnB w="12700" cap="flat" cmpd="sng" algn="ctr">
                      <a:solidFill>
                        <a:srgbClr val="5B524B"/>
                      </a:solidFill>
                      <a:prstDash val="solid"/>
                      <a:round/>
                      <a:headEnd type="none" w="med" len="med"/>
                      <a:tailEnd type="none" w="med" len="med"/>
                    </a:lnB>
                    <a:solidFill>
                      <a:srgbClr val="2E231B"/>
                    </a:solidFill>
                  </a:tcPr>
                </a:tc>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Cooking</a:t>
                      </a:r>
                      <a:endParaRPr lang="en-US" sz="1600" dirty="0">
                        <a:latin typeface="DM Sans" charset="0"/>
                        <a:ea typeface="DM Sans" charset="0"/>
                        <a:cs typeface="DM Sans" charset="0"/>
                      </a:endParaRPr>
                    </a:p>
                  </a:txBody>
                  <a:tcPr marL="71120" marR="71120" marT="71120" marB="71120" anchor="t">
                    <a:lnL w="12700" cap="flat" cmpd="sng" algn="ctr">
                      <a:solidFill>
                        <a:srgbClr val="5B524B"/>
                      </a:solidFill>
                      <a:prstDash val="solid"/>
                      <a:round/>
                      <a:headEnd type="none" w="med" len="med"/>
                      <a:tailEnd type="none" w="med" len="med"/>
                    </a:lnL>
                    <a:lnR w="12700" cap="flat" cmpd="sng" algn="ctr">
                      <a:solidFill>
                        <a:srgbClr val="5B524B"/>
                      </a:solidFill>
                      <a:prstDash val="solid"/>
                      <a:round/>
                      <a:headEnd type="none" w="med" len="med"/>
                      <a:tailEnd type="none" w="med" len="med"/>
                    </a:lnR>
                    <a:lnT w="12700" cap="flat" cmpd="sng" algn="ctr">
                      <a:solidFill>
                        <a:srgbClr val="645950"/>
                      </a:solidFill>
                      <a:prstDash val="solid"/>
                      <a:round/>
                      <a:headEnd type="none" w="med" len="med"/>
                      <a:tailEnd type="none" w="med" len="med"/>
                    </a:lnT>
                    <a:lnB w="12700" cap="flat" cmpd="sng" algn="ctr">
                      <a:solidFill>
                        <a:srgbClr val="5B524B"/>
                      </a:solidFill>
                      <a:prstDash val="solid"/>
                      <a:round/>
                      <a:headEnd type="none" w="med" len="med"/>
                      <a:tailEnd type="none" w="med" len="med"/>
                    </a:lnB>
                    <a:solidFill>
                      <a:srgbClr val="2E231B"/>
                    </a:solidFill>
                  </a:tcPr>
                </a:tc>
              </a:tr>
              <a:tr h="436880">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#102</a:t>
                      </a:r>
                      <a:endParaRPr lang="en-US" sz="1600" dirty="0">
                        <a:latin typeface="DM Sans" charset="0"/>
                        <a:ea typeface="DM Sans" charset="0"/>
                        <a:cs typeface="DM Sans" charset="0"/>
                      </a:endParaRPr>
                    </a:p>
                  </a:txBody>
                  <a:tcPr marL="71120" marR="71120" marT="71120" marB="71120" anchor="t">
                    <a:lnL w="12700" cap="flat" cmpd="sng" algn="ctr">
                      <a:solidFill>
                        <a:srgbClr val="524B46"/>
                      </a:solidFill>
                      <a:prstDash val="solid"/>
                      <a:round/>
                      <a:headEnd type="none" w="med" len="med"/>
                      <a:tailEnd type="none" w="med" len="med"/>
                    </a:lnL>
                    <a:lnR w="12700" cap="flat" cmpd="sng" algn="ctr">
                      <a:solidFill>
                        <a:srgbClr val="524B46"/>
                      </a:solidFill>
                      <a:prstDash val="solid"/>
                      <a:round/>
                      <a:headEnd type="none" w="med" len="med"/>
                      <a:tailEnd type="none" w="med" len="med"/>
                    </a:lnR>
                    <a:lnT w="12700" cap="flat" cmpd="sng" algn="ctr">
                      <a:solidFill>
                        <a:srgbClr val="5B524B"/>
                      </a:solidFill>
                      <a:prstDash val="solid"/>
                      <a:round/>
                      <a:headEnd type="none" w="med" len="med"/>
                      <a:tailEnd type="none" w="med" len="med"/>
                    </a:lnT>
                    <a:lnB w="12700" cap="flat" cmpd="sng" algn="ctr">
                      <a:solidFill>
                        <a:srgbClr val="524B46"/>
                      </a:solidFill>
                      <a:prstDash val="solid"/>
                      <a:round/>
                      <a:headEnd type="none" w="med" len="med"/>
                      <a:tailEnd type="none" w="med" len="med"/>
                    </a:lnB>
                    <a:solidFill>
                      <a:srgbClr val="231A14"/>
                    </a:solidFill>
                  </a:tcPr>
                </a:tc>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Aman</a:t>
                      </a:r>
                      <a:endParaRPr lang="en-US" sz="1600" dirty="0">
                        <a:latin typeface="DM Sans" charset="0"/>
                        <a:ea typeface="DM Sans" charset="0"/>
                        <a:cs typeface="DM Sans" charset="0"/>
                      </a:endParaRPr>
                    </a:p>
                  </a:txBody>
                  <a:tcPr marL="71120" marR="71120" marT="71120" marB="71120" anchor="t">
                    <a:lnL w="12700" cap="flat" cmpd="sng" algn="ctr">
                      <a:solidFill>
                        <a:srgbClr val="524B46"/>
                      </a:solidFill>
                      <a:prstDash val="solid"/>
                      <a:round/>
                      <a:headEnd type="none" w="med" len="med"/>
                      <a:tailEnd type="none" w="med" len="med"/>
                    </a:lnL>
                    <a:lnR w="12700" cap="flat" cmpd="sng" algn="ctr">
                      <a:solidFill>
                        <a:srgbClr val="524B46"/>
                      </a:solidFill>
                      <a:prstDash val="solid"/>
                      <a:round/>
                      <a:headEnd type="none" w="med" len="med"/>
                      <a:tailEnd type="none" w="med" len="med"/>
                    </a:lnR>
                    <a:lnT w="12700" cap="flat" cmpd="sng" algn="ctr">
                      <a:solidFill>
                        <a:srgbClr val="5B524B"/>
                      </a:solidFill>
                      <a:prstDash val="solid"/>
                      <a:round/>
                      <a:headEnd type="none" w="med" len="med"/>
                      <a:tailEnd type="none" w="med" len="med"/>
                    </a:lnT>
                    <a:lnB w="12700" cap="flat" cmpd="sng" algn="ctr">
                      <a:solidFill>
                        <a:srgbClr val="524B46"/>
                      </a:solidFill>
                      <a:prstDash val="solid"/>
                      <a:round/>
                      <a:headEnd type="none" w="med" len="med"/>
                      <a:tailEnd type="none" w="med" len="med"/>
                    </a:lnB>
                    <a:solidFill>
                      <a:srgbClr val="231A14"/>
                    </a:solidFill>
                  </a:tcPr>
                </a:tc>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Samosa &amp; Chai Combo</a:t>
                      </a:r>
                      <a:endParaRPr lang="en-US" sz="1600" dirty="0">
                        <a:latin typeface="DM Sans" charset="0"/>
                        <a:ea typeface="DM Sans" charset="0"/>
                        <a:cs typeface="DM Sans" charset="0"/>
                      </a:endParaRPr>
                    </a:p>
                  </a:txBody>
                  <a:tcPr marL="71120" marR="71120" marT="71120" marB="71120" anchor="t">
                    <a:lnL w="12700" cap="flat" cmpd="sng" algn="ctr">
                      <a:solidFill>
                        <a:srgbClr val="524B46"/>
                      </a:solidFill>
                      <a:prstDash val="solid"/>
                      <a:round/>
                      <a:headEnd type="none" w="med" len="med"/>
                      <a:tailEnd type="none" w="med" len="med"/>
                    </a:lnL>
                    <a:lnR w="12700" cap="flat" cmpd="sng" algn="ctr">
                      <a:solidFill>
                        <a:srgbClr val="524B46"/>
                      </a:solidFill>
                      <a:prstDash val="solid"/>
                      <a:round/>
                      <a:headEnd type="none" w="med" len="med"/>
                      <a:tailEnd type="none" w="med" len="med"/>
                    </a:lnR>
                    <a:lnT w="12700" cap="flat" cmpd="sng" algn="ctr">
                      <a:solidFill>
                        <a:srgbClr val="5B524B"/>
                      </a:solidFill>
                      <a:prstDash val="solid"/>
                      <a:round/>
                      <a:headEnd type="none" w="med" len="med"/>
                      <a:tailEnd type="none" w="med" len="med"/>
                    </a:lnT>
                    <a:lnB w="12700" cap="flat" cmpd="sng" algn="ctr">
                      <a:solidFill>
                        <a:srgbClr val="524B46"/>
                      </a:solidFill>
                      <a:prstDash val="solid"/>
                      <a:round/>
                      <a:headEnd type="none" w="med" len="med"/>
                      <a:tailEnd type="none" w="med" len="med"/>
                    </a:lnB>
                    <a:solidFill>
                      <a:srgbClr val="231A14"/>
                    </a:solidFill>
                  </a:tcPr>
                </a:tc>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Ready</a:t>
                      </a:r>
                      <a:endParaRPr lang="en-US" sz="1600" dirty="0">
                        <a:latin typeface="DM Sans" charset="0"/>
                        <a:ea typeface="DM Sans" charset="0"/>
                        <a:cs typeface="DM Sans" charset="0"/>
                      </a:endParaRPr>
                    </a:p>
                  </a:txBody>
                  <a:tcPr marL="71120" marR="71120" marT="71120" marB="71120" anchor="t">
                    <a:lnL w="12700" cap="flat" cmpd="sng" algn="ctr">
                      <a:solidFill>
                        <a:srgbClr val="524B46"/>
                      </a:solidFill>
                      <a:prstDash val="solid"/>
                      <a:round/>
                      <a:headEnd type="none" w="med" len="med"/>
                      <a:tailEnd type="none" w="med" len="med"/>
                    </a:lnL>
                    <a:lnR w="12700" cap="flat" cmpd="sng" algn="ctr">
                      <a:solidFill>
                        <a:srgbClr val="524B46"/>
                      </a:solidFill>
                      <a:prstDash val="solid"/>
                      <a:round/>
                      <a:headEnd type="none" w="med" len="med"/>
                      <a:tailEnd type="none" w="med" len="med"/>
                    </a:lnR>
                    <a:lnT w="12700" cap="flat" cmpd="sng" algn="ctr">
                      <a:solidFill>
                        <a:srgbClr val="5B524B"/>
                      </a:solidFill>
                      <a:prstDash val="solid"/>
                      <a:round/>
                      <a:headEnd type="none" w="med" len="med"/>
                      <a:tailEnd type="none" w="med" len="med"/>
                    </a:lnT>
                    <a:lnB w="12700" cap="flat" cmpd="sng" algn="ctr">
                      <a:solidFill>
                        <a:srgbClr val="524B46"/>
                      </a:solidFill>
                      <a:prstDash val="solid"/>
                      <a:round/>
                      <a:headEnd type="none" w="med" len="med"/>
                      <a:tailEnd type="none" w="med" len="med"/>
                    </a:lnB>
                    <a:solidFill>
                      <a:srgbClr val="231A14"/>
                    </a:solidFill>
                  </a:tcPr>
                </a:tc>
              </a:tr>
              <a:tr h="436880">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#103</a:t>
                      </a:r>
                      <a:endParaRPr lang="en-US" sz="1600" dirty="0">
                        <a:latin typeface="DM Sans" charset="0"/>
                        <a:ea typeface="DM Sans" charset="0"/>
                        <a:cs typeface="DM Sans" charset="0"/>
                      </a:endParaRPr>
                    </a:p>
                  </a:txBody>
                  <a:tcPr marL="71120" marR="71120" marT="71120" marB="71120" anchor="t">
                    <a:lnL w="12700" cap="flat" cmpd="sng" algn="ctr">
                      <a:solidFill>
                        <a:srgbClr val="524B46"/>
                      </a:solidFill>
                      <a:prstDash val="solid"/>
                      <a:round/>
                      <a:headEnd type="none" w="med" len="med"/>
                      <a:tailEnd type="none" w="med" len="med"/>
                    </a:lnL>
                    <a:lnR w="12700" cap="flat" cmpd="sng" algn="ctr">
                      <a:solidFill>
                        <a:srgbClr val="5B524B"/>
                      </a:solidFill>
                      <a:prstDash val="solid"/>
                      <a:round/>
                      <a:headEnd type="none" w="med" len="med"/>
                      <a:tailEnd type="none" w="med" len="med"/>
                    </a:lnR>
                    <a:lnT w="12700" cap="flat" cmpd="sng" algn="ctr">
                      <a:solidFill>
                        <a:srgbClr val="524B46"/>
                      </a:solidFill>
                      <a:prstDash val="solid"/>
                      <a:round/>
                      <a:headEnd type="none" w="med" len="med"/>
                      <a:tailEnd type="none" w="med" len="med"/>
                    </a:lnT>
                    <a:lnB w="12700" cap="flat" cmpd="sng" algn="ctr">
                      <a:solidFill>
                        <a:srgbClr val="5B524B"/>
                      </a:solidFill>
                      <a:prstDash val="solid"/>
                      <a:round/>
                      <a:headEnd type="none" w="med" len="med"/>
                      <a:tailEnd type="none" w="med" len="med"/>
                    </a:lnB>
                    <a:solidFill>
                      <a:srgbClr val="2E231B"/>
                    </a:solidFill>
                  </a:tcPr>
                </a:tc>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Rahul</a:t>
                      </a:r>
                      <a:endParaRPr lang="en-US" sz="1600" dirty="0">
                        <a:latin typeface="DM Sans" charset="0"/>
                        <a:ea typeface="DM Sans" charset="0"/>
                        <a:cs typeface="DM Sans" charset="0"/>
                      </a:endParaRPr>
                    </a:p>
                  </a:txBody>
                  <a:tcPr marL="71120" marR="71120" marT="71120" marB="71120" anchor="t">
                    <a:lnL w="12700" cap="flat" cmpd="sng" algn="ctr">
                      <a:solidFill>
                        <a:srgbClr val="5B524B"/>
                      </a:solidFill>
                      <a:prstDash val="solid"/>
                      <a:round/>
                      <a:headEnd type="none" w="med" len="med"/>
                      <a:tailEnd type="none" w="med" len="med"/>
                    </a:lnL>
                    <a:lnR w="12700" cap="flat" cmpd="sng" algn="ctr">
                      <a:solidFill>
                        <a:srgbClr val="5B524B"/>
                      </a:solidFill>
                      <a:prstDash val="solid"/>
                      <a:round/>
                      <a:headEnd type="none" w="med" len="med"/>
                      <a:tailEnd type="none" w="med" len="med"/>
                    </a:lnR>
                    <a:lnT w="12700" cap="flat" cmpd="sng" algn="ctr">
                      <a:solidFill>
                        <a:srgbClr val="524B46"/>
                      </a:solidFill>
                      <a:prstDash val="solid"/>
                      <a:round/>
                      <a:headEnd type="none" w="med" len="med"/>
                      <a:tailEnd type="none" w="med" len="med"/>
                    </a:lnT>
                    <a:lnB w="12700" cap="flat" cmpd="sng" algn="ctr">
                      <a:solidFill>
                        <a:srgbClr val="5B524B"/>
                      </a:solidFill>
                      <a:prstDash val="solid"/>
                      <a:round/>
                      <a:headEnd type="none" w="med" len="med"/>
                      <a:tailEnd type="none" w="med" len="med"/>
                    </a:lnB>
                    <a:solidFill>
                      <a:srgbClr val="2E231B"/>
                    </a:solidFill>
                  </a:tcPr>
                </a:tc>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Veg Maggi (spicy) + Cold Coffee</a:t>
                      </a:r>
                      <a:endParaRPr lang="en-US" sz="1600" dirty="0">
                        <a:latin typeface="DM Sans" charset="0"/>
                        <a:ea typeface="DM Sans" charset="0"/>
                        <a:cs typeface="DM Sans" charset="0"/>
                      </a:endParaRPr>
                    </a:p>
                  </a:txBody>
                  <a:tcPr marL="71120" marR="71120" marT="71120" marB="71120" anchor="t">
                    <a:lnL w="12700" cap="flat" cmpd="sng" algn="ctr">
                      <a:solidFill>
                        <a:srgbClr val="5B524B"/>
                      </a:solidFill>
                      <a:prstDash val="solid"/>
                      <a:round/>
                      <a:headEnd type="none" w="med" len="med"/>
                      <a:tailEnd type="none" w="med" len="med"/>
                    </a:lnL>
                    <a:lnR w="12700" cap="flat" cmpd="sng" algn="ctr">
                      <a:solidFill>
                        <a:srgbClr val="5B524B"/>
                      </a:solidFill>
                      <a:prstDash val="solid"/>
                      <a:round/>
                      <a:headEnd type="none" w="med" len="med"/>
                      <a:tailEnd type="none" w="med" len="med"/>
                    </a:lnR>
                    <a:lnT w="12700" cap="flat" cmpd="sng" algn="ctr">
                      <a:solidFill>
                        <a:srgbClr val="524B46"/>
                      </a:solidFill>
                      <a:prstDash val="solid"/>
                      <a:round/>
                      <a:headEnd type="none" w="med" len="med"/>
                      <a:tailEnd type="none" w="med" len="med"/>
                    </a:lnT>
                    <a:lnB w="12700" cap="flat" cmpd="sng" algn="ctr">
                      <a:solidFill>
                        <a:srgbClr val="5B524B"/>
                      </a:solidFill>
                      <a:prstDash val="solid"/>
                      <a:round/>
                      <a:headEnd type="none" w="med" len="med"/>
                      <a:tailEnd type="none" w="med" len="med"/>
                    </a:lnB>
                    <a:solidFill>
                      <a:srgbClr val="2E231B"/>
                    </a:solidFill>
                  </a:tcPr>
                </a:tc>
                <a:tc>
                  <a:txBody>
                    <a:bodyPr/>
                    <a:lstStyle/>
                    <a:p>
                      <a:pPr indent="0" marL="0">
                        <a:lnSpc>
                          <a:spcPts val="2240"/>
                        </a:lnSpc>
                        <a:buNone/>
                      </a:pPr>
                      <a:r>
                        <a:rPr lang="en-US" sz="1600" dirty="0">
                          <a:solidFill>
                            <a:srgbClr val="FBF5EA"/>
                          </a:solidFill>
                          <a:latin typeface="DM Sans" pitchFamily="34" charset="0"/>
                          <a:ea typeface="DM Sans" pitchFamily="34" charset="-122"/>
                          <a:cs typeface="DM Sans" pitchFamily="34" charset="-120"/>
                        </a:rPr>
                        <a:t>Cooking</a:t>
                      </a:r>
                      <a:endParaRPr lang="en-US" sz="1600" dirty="0">
                        <a:latin typeface="DM Sans" charset="0"/>
                        <a:ea typeface="DM Sans" charset="0"/>
                        <a:cs typeface="DM Sans" charset="0"/>
                      </a:endParaRPr>
                    </a:p>
                  </a:txBody>
                  <a:tcPr marL="71120" marR="71120" marT="71120" marB="71120" anchor="t">
                    <a:lnL w="12700" cap="flat" cmpd="sng" algn="ctr">
                      <a:solidFill>
                        <a:srgbClr val="5B524B"/>
                      </a:solidFill>
                      <a:prstDash val="solid"/>
                      <a:round/>
                      <a:headEnd type="none" w="med" len="med"/>
                      <a:tailEnd type="none" w="med" len="med"/>
                    </a:lnL>
                    <a:lnR w="12700" cap="flat" cmpd="sng" algn="ctr">
                      <a:solidFill>
                        <a:srgbClr val="5B524B"/>
                      </a:solidFill>
                      <a:prstDash val="solid"/>
                      <a:round/>
                      <a:headEnd type="none" w="med" len="med"/>
                      <a:tailEnd type="none" w="med" len="med"/>
                    </a:lnR>
                    <a:lnT w="12700" cap="flat" cmpd="sng" algn="ctr">
                      <a:solidFill>
                        <a:srgbClr val="524B46"/>
                      </a:solidFill>
                      <a:prstDash val="solid"/>
                      <a:round/>
                      <a:headEnd type="none" w="med" len="med"/>
                      <a:tailEnd type="none" w="med" len="med"/>
                    </a:lnT>
                    <a:lnB w="12700" cap="flat" cmpd="sng" algn="ctr">
                      <a:solidFill>
                        <a:srgbClr val="5B524B"/>
                      </a:solidFill>
                      <a:prstDash val="solid"/>
                      <a:round/>
                      <a:headEnd type="none" w="med" len="med"/>
                      <a:tailEnd type="none" w="med" len="med"/>
                    </a:lnB>
                    <a:solidFill>
                      <a:srgbClr val="2E231B"/>
                    </a:solidFill>
                  </a:tcPr>
                </a:tc>
              </a:tr>
            </a:tbl>
          </a:graphicData>
        </a:graphic>
      </p:graphicFrame>
      <p:sp>
        <p:nvSpPr>
          <p:cNvPr id="4" name="Shape 1"/>
          <p:cNvSpPr/>
          <p:nvPr/>
        </p:nvSpPr>
        <p:spPr>
          <a:xfrm>
            <a:off x="812800" y="3545839"/>
            <a:ext cx="5181600" cy="1229360"/>
          </a:xfrm>
          <a:prstGeom prst="roundRect">
            <a:avLst>
              <a:gd name="adj" fmla="val 10331"/>
            </a:avLst>
          </a:prstGeom>
          <a:solidFill>
            <a:srgbClr val="3A2C21"/>
          </a:solidFill>
          <a:ln/>
        </p:spPr>
      </p:sp>
      <p:sp>
        <p:nvSpPr>
          <p:cNvPr id="5" name="Text 2"/>
          <p:cNvSpPr/>
          <p:nvPr/>
        </p:nvSpPr>
        <p:spPr>
          <a:xfrm>
            <a:off x="1016000" y="3749039"/>
            <a:ext cx="491845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8A4B"/>
                </a:solidFill>
                <a:latin typeface="DM Sans" pitchFamily="34" charset="0"/>
                <a:ea typeface="DM Sans" pitchFamily="34" charset="-122"/>
                <a:cs typeface="DM Sans" pitchFamily="34" charset="-120"/>
              </a:rPr>
              <a:t>Orders appear with notes</a:t>
            </a:r>
            <a:endParaRPr lang="en-US" sz="1800" dirty="0"/>
          </a:p>
        </p:txBody>
      </p:sp>
      <p:sp>
        <p:nvSpPr>
          <p:cNvPr id="6" name="Text 3"/>
          <p:cNvSpPr/>
          <p:nvPr/>
        </p:nvSpPr>
        <p:spPr>
          <a:xfrm>
            <a:off x="1016000" y="4074161"/>
            <a:ext cx="49184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D3BF"/>
                </a:solidFill>
                <a:latin typeface="DM Sans" pitchFamily="34" charset="0"/>
                <a:ea typeface="DM Sans" pitchFamily="34" charset="-122"/>
                <a:cs typeface="DM Sans" pitchFamily="34" charset="-120"/>
              </a:rPr>
              <a:t>Every confirmed student order shows up with its custom instructions.</a:t>
            </a:r>
            <a:endParaRPr lang="en-US" sz="1400" dirty="0"/>
          </a:p>
        </p:txBody>
      </p:sp>
      <p:sp>
        <p:nvSpPr>
          <p:cNvPr id="7" name="Shape 4"/>
          <p:cNvSpPr/>
          <p:nvPr/>
        </p:nvSpPr>
        <p:spPr>
          <a:xfrm>
            <a:off x="6197600" y="3545839"/>
            <a:ext cx="5181600" cy="1229360"/>
          </a:xfrm>
          <a:prstGeom prst="roundRect">
            <a:avLst>
              <a:gd name="adj" fmla="val 10331"/>
            </a:avLst>
          </a:prstGeom>
          <a:solidFill>
            <a:srgbClr val="3A2C21"/>
          </a:solidFill>
          <a:ln/>
        </p:spPr>
      </p:sp>
      <p:sp>
        <p:nvSpPr>
          <p:cNvPr id="8" name="Text 5"/>
          <p:cNvSpPr/>
          <p:nvPr/>
        </p:nvSpPr>
        <p:spPr>
          <a:xfrm>
            <a:off x="6400800" y="3749039"/>
            <a:ext cx="491845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8A4B"/>
                </a:solidFill>
                <a:latin typeface="DM Sans" pitchFamily="34" charset="0"/>
                <a:ea typeface="DM Sans" pitchFamily="34" charset="-122"/>
                <a:cs typeface="DM Sans" pitchFamily="34" charset="-120"/>
              </a:rPr>
              <a:t>One tap to finish</a:t>
            </a:r>
            <a:endParaRPr lang="en-US" sz="1800" dirty="0"/>
          </a:p>
        </p:txBody>
      </p:sp>
      <p:sp>
        <p:nvSpPr>
          <p:cNvPr id="9" name="Text 6"/>
          <p:cNvSpPr/>
          <p:nvPr/>
        </p:nvSpPr>
        <p:spPr>
          <a:xfrm>
            <a:off x="6400800" y="4074161"/>
            <a:ext cx="49184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D3BF"/>
                </a:solidFill>
                <a:latin typeface="DM Sans" pitchFamily="34" charset="0"/>
                <a:ea typeface="DM Sans" pitchFamily="34" charset="-122"/>
                <a:cs typeface="DM Sans" pitchFamily="34" charset="-120"/>
              </a:rPr>
              <a:t>Staff press Mark Token as Ready. Students collect by showing the token they received.</a:t>
            </a:r>
            <a:endParaRPr lang="en-US" sz="1400" dirty="0"/>
          </a:p>
        </p:txBody>
      </p:sp>
      <p:sp>
        <p:nvSpPr>
          <p:cNvPr id="10" name="Text 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BA78F"/>
                </a:solidFill>
                <a:latin typeface="DM Sans" pitchFamily="34" charset="0"/>
                <a:ea typeface="DM Sans" pitchFamily="34" charset="-122"/>
                <a:cs typeface="DM Sans" pitchFamily="34" charset="-120"/>
              </a:rPr>
              <a:t>CanteenRush · Build with Gemma 4</a:t>
            </a:r>
            <a:endParaRPr lang="en-US" sz="1200" dirty="0"/>
          </a:p>
        </p:txBody>
      </p:sp>
      <p:sp>
        <p:nvSpPr>
          <p:cNvPr id="11" name="Text 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BA78F"/>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5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31A14"/>
                </a:solidFill>
                <a:latin typeface="DM Sans" pitchFamily="34" charset="0"/>
                <a:ea typeface="DM Sans" pitchFamily="34" charset="-122"/>
                <a:cs typeface="DM Sans" pitchFamily="34" charset="-120"/>
              </a:rPr>
              <a:t>Powered by Gemma 4, open source</a:t>
            </a:r>
            <a:endParaRPr lang="en-US" sz="3200" dirty="0"/>
          </a:p>
        </p:txBody>
      </p:sp>
      <p:sp>
        <p:nvSpPr>
          <p:cNvPr id="3" name="Text 1"/>
          <p:cNvSpPr/>
          <p:nvPr/>
        </p:nvSpPr>
        <p:spPr>
          <a:xfrm>
            <a:off x="812800" y="1483361"/>
            <a:ext cx="2413000" cy="444500"/>
          </a:xfrm>
          <a:prstGeom prst="roundRect">
            <a:avLst>
              <a:gd name="adj" fmla="val 22857"/>
            </a:avLst>
          </a:prstGeom>
          <a:solidFill>
            <a:srgbClr val="231A14"/>
          </a:solidFill>
          <a:ln/>
        </p:spPr>
        <p:txBody>
          <a:bodyPr wrap="none" lIns="0" tIns="0" rIns="0" bIns="0" rtlCol="0" anchor="ctr">
            <a:normAutofit/>
          </a:bodyPr>
          <a:lstStyle/>
          <a:p>
            <a:pPr algn="ctr" indent="0" marL="0">
              <a:lnSpc>
                <a:spcPts val="2100"/>
              </a:lnSpc>
              <a:buNone/>
            </a:pPr>
            <a:r>
              <a:rPr lang="en-US" sz="1500" b="1" dirty="0">
                <a:solidFill>
                  <a:srgbClr val="F08A4B"/>
                </a:solidFill>
                <a:latin typeface="JetBrains Mono" pitchFamily="49" charset="0"/>
                <a:ea typeface="JetBrains Mono" pitchFamily="49" charset="-122"/>
                <a:cs typeface="JetBrains Mono" pitchFamily="49" charset="-120"/>
              </a:rPr>
              <a:t>gemma-4-26b-a4b-it</a:t>
            </a:r>
            <a:endParaRPr lang="en-US" sz="1500" dirty="0"/>
          </a:p>
        </p:txBody>
      </p:sp>
      <p:sp>
        <p:nvSpPr>
          <p:cNvPr id="4" name="Text 2"/>
          <p:cNvSpPr/>
          <p:nvPr/>
        </p:nvSpPr>
        <p:spPr>
          <a:xfrm>
            <a:off x="3378200" y="1572261"/>
            <a:ext cx="31368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A4A3E"/>
                </a:solidFill>
                <a:latin typeface="DM Sans" pitchFamily="34" charset="0"/>
                <a:ea typeface="DM Sans" pitchFamily="34" charset="-122"/>
                <a:cs typeface="DM Sans" pitchFamily="34" charset="-120"/>
              </a:rPr>
              <a:t>called through the Gemini API</a:t>
            </a:r>
            <a:endParaRPr lang="en-US" sz="1500" dirty="0"/>
          </a:p>
        </p:txBody>
      </p:sp>
      <p:sp>
        <p:nvSpPr>
          <p:cNvPr id="5" name="Shape 3"/>
          <p:cNvSpPr/>
          <p:nvPr/>
        </p:nvSpPr>
        <p:spPr>
          <a:xfrm>
            <a:off x="815975" y="2134236"/>
            <a:ext cx="3380264" cy="1276350"/>
          </a:xfrm>
          <a:prstGeom prst="roundRect">
            <a:avLst>
              <a:gd name="adj" fmla="val 11692"/>
            </a:avLst>
          </a:prstGeom>
          <a:solidFill>
            <a:srgbClr val="FFFDF8"/>
          </a:solidFill>
          <a:ln w="6350">
            <a:solidFill>
              <a:srgbClr val="E5D6BE"/>
            </a:solidFill>
            <a:prstDash val="solid"/>
          </a:ln>
        </p:spPr>
      </p:sp>
      <p:sp>
        <p:nvSpPr>
          <p:cNvPr id="6" name="Text 4"/>
          <p:cNvSpPr/>
          <p:nvPr/>
        </p:nvSpPr>
        <p:spPr>
          <a:xfrm>
            <a:off x="1021080" y="2339339"/>
            <a:ext cx="3059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84A14"/>
                </a:solidFill>
                <a:latin typeface="DM Sans" pitchFamily="34" charset="0"/>
                <a:ea typeface="DM Sans" pitchFamily="34" charset="-122"/>
                <a:cs typeface="DM Sans" pitchFamily="34" charset="-120"/>
              </a:rPr>
              <a:t>Understands</a:t>
            </a:r>
            <a:endParaRPr lang="en-US" sz="2000" dirty="0"/>
          </a:p>
        </p:txBody>
      </p:sp>
      <p:sp>
        <p:nvSpPr>
          <p:cNvPr id="7" name="Text 5"/>
          <p:cNvSpPr/>
          <p:nvPr/>
        </p:nvSpPr>
        <p:spPr>
          <a:xfrm>
            <a:off x="1021080" y="2707639"/>
            <a:ext cx="30591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A3E"/>
                </a:solidFill>
                <a:latin typeface="DM Sans" pitchFamily="34" charset="0"/>
                <a:ea typeface="DM Sans" pitchFamily="34" charset="-122"/>
                <a:cs typeface="DM Sans" pitchFamily="34" charset="-120"/>
              </a:rPr>
              <a:t>English and Hinglish orders, extras and budgets.</a:t>
            </a:r>
            <a:endParaRPr lang="en-US" sz="1400" dirty="0"/>
          </a:p>
        </p:txBody>
      </p:sp>
      <p:sp>
        <p:nvSpPr>
          <p:cNvPr id="8" name="Shape 6"/>
          <p:cNvSpPr/>
          <p:nvPr/>
        </p:nvSpPr>
        <p:spPr>
          <a:xfrm>
            <a:off x="4405789" y="2134236"/>
            <a:ext cx="3380343" cy="1276350"/>
          </a:xfrm>
          <a:prstGeom prst="roundRect">
            <a:avLst>
              <a:gd name="adj" fmla="val 11692"/>
            </a:avLst>
          </a:prstGeom>
          <a:solidFill>
            <a:srgbClr val="FFFDF8"/>
          </a:solidFill>
          <a:ln w="6350">
            <a:solidFill>
              <a:srgbClr val="E5D6BE"/>
            </a:solidFill>
            <a:prstDash val="solid"/>
          </a:ln>
        </p:spPr>
      </p:sp>
      <p:sp>
        <p:nvSpPr>
          <p:cNvPr id="9" name="Text 7"/>
          <p:cNvSpPr/>
          <p:nvPr/>
        </p:nvSpPr>
        <p:spPr>
          <a:xfrm>
            <a:off x="4610894" y="2339339"/>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84A14"/>
                </a:solidFill>
                <a:latin typeface="DM Sans" pitchFamily="34" charset="0"/>
                <a:ea typeface="DM Sans" pitchFamily="34" charset="-122"/>
                <a:cs typeface="DM Sans" pitchFamily="34" charset="-120"/>
              </a:rPr>
              <a:t>Acts</a:t>
            </a:r>
            <a:endParaRPr lang="en-US" sz="2000" dirty="0"/>
          </a:p>
        </p:txBody>
      </p:sp>
      <p:sp>
        <p:nvSpPr>
          <p:cNvPr id="10" name="Text 8"/>
          <p:cNvSpPr/>
          <p:nvPr/>
        </p:nvSpPr>
        <p:spPr>
          <a:xfrm>
            <a:off x="4610894" y="2707639"/>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A3E"/>
                </a:solidFill>
                <a:latin typeface="DM Sans" pitchFamily="34" charset="0"/>
                <a:ea typeface="DM Sans" pitchFamily="34" charset="-122"/>
                <a:cs typeface="DM Sans" pitchFamily="34" charset="-120"/>
              </a:rPr>
              <a:t>Calls the menu, queue and order tools.</a:t>
            </a:r>
            <a:endParaRPr lang="en-US" sz="1400" dirty="0"/>
          </a:p>
        </p:txBody>
      </p:sp>
      <p:sp>
        <p:nvSpPr>
          <p:cNvPr id="11" name="Shape 9"/>
          <p:cNvSpPr/>
          <p:nvPr/>
        </p:nvSpPr>
        <p:spPr>
          <a:xfrm>
            <a:off x="7995682" y="2134236"/>
            <a:ext cx="3380343" cy="1276350"/>
          </a:xfrm>
          <a:prstGeom prst="roundRect">
            <a:avLst>
              <a:gd name="adj" fmla="val 11692"/>
            </a:avLst>
          </a:prstGeom>
          <a:solidFill>
            <a:srgbClr val="FFFDF8"/>
          </a:solidFill>
          <a:ln w="6350">
            <a:solidFill>
              <a:srgbClr val="E5D6BE"/>
            </a:solidFill>
            <a:prstDash val="solid"/>
          </a:ln>
        </p:spPr>
      </p:sp>
      <p:sp>
        <p:nvSpPr>
          <p:cNvPr id="12" name="Text 10"/>
          <p:cNvSpPr/>
          <p:nvPr/>
        </p:nvSpPr>
        <p:spPr>
          <a:xfrm>
            <a:off x="8200787" y="2339339"/>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84A14"/>
                </a:solidFill>
                <a:latin typeface="DM Sans" pitchFamily="34" charset="0"/>
                <a:ea typeface="DM Sans" pitchFamily="34" charset="-122"/>
                <a:cs typeface="DM Sans" pitchFamily="34" charset="-120"/>
              </a:rPr>
              <a:t>Explains</a:t>
            </a:r>
            <a:endParaRPr lang="en-US" sz="2000" dirty="0"/>
          </a:p>
        </p:txBody>
      </p:sp>
      <p:sp>
        <p:nvSpPr>
          <p:cNvPr id="13" name="Text 11"/>
          <p:cNvSpPr/>
          <p:nvPr/>
        </p:nvSpPr>
        <p:spPr>
          <a:xfrm>
            <a:off x="8200787" y="2707639"/>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A3E"/>
                </a:solidFill>
                <a:latin typeface="DM Sans" pitchFamily="34" charset="0"/>
                <a:ea typeface="DM Sans" pitchFamily="34" charset="-122"/>
                <a:cs typeface="DM Sans" pitchFamily="34" charset="-120"/>
              </a:rPr>
              <a:t>Replies in the student’s language with the pickup time.</a:t>
            </a:r>
            <a:endParaRPr lang="en-US" sz="1400" dirty="0"/>
          </a:p>
        </p:txBody>
      </p:sp>
      <p:sp>
        <p:nvSpPr>
          <p:cNvPr id="14" name="Text 12"/>
          <p:cNvSpPr/>
          <p:nvPr/>
        </p:nvSpPr>
        <p:spPr>
          <a:xfrm>
            <a:off x="812800" y="3616961"/>
            <a:ext cx="10566400" cy="622300"/>
          </a:xfrm>
          <a:prstGeom prst="roundRect">
            <a:avLst>
              <a:gd name="adj" fmla="val 24490"/>
            </a:avLst>
          </a:prstGeom>
          <a:solidFill>
            <a:srgbClr val="231A14"/>
          </a:solidFill>
          <a:ln/>
        </p:spPr>
        <p:txBody>
          <a:bodyPr wrap="square" lIns="209364" tIns="133164" rIns="0" bIns="107764" rtlCol="0" anchor="t">
            <a:normAutofit/>
          </a:bodyPr>
          <a:lstStyle/>
          <a:p>
            <a:pPr algn="l" indent="0" marL="0">
              <a:lnSpc>
                <a:spcPts val="2100"/>
              </a:lnSpc>
              <a:buNone/>
            </a:pPr>
            <a:r>
              <a:rPr lang="en-US" sz="1500" b="1" dirty="0">
                <a:solidFill>
                  <a:srgbClr val="F08A4B"/>
                </a:solidFill>
                <a:latin typeface="DM Sans" pitchFamily="34" charset="0"/>
                <a:ea typeface="DM Sans" pitchFamily="34" charset="-122"/>
                <a:cs typeface="DM Sans" pitchFamily="34" charset="-120"/>
              </a:rPr>
              <a:t>Code does the sums.</a:t>
            </a:r>
            <a:r>
              <a:rPr lang="en-US" sz="1500" dirty="0">
                <a:solidFill>
                  <a:srgbClr val="FBF5EA"/>
                </a:solidFill>
                <a:latin typeface="DM Sans" pitchFamily="34" charset="0"/>
                <a:ea typeface="DM Sans" pitchFamily="34" charset="-122"/>
                <a:cs typeface="DM Sans" pitchFamily="34" charset="-120"/>
              </a:rPr>
              <a:t> Prices, totals and ready times come from Python, not from the model.</a:t>
            </a:r>
            <a:endParaRPr lang="en-US" sz="1500" dirty="0"/>
          </a:p>
        </p:txBody>
      </p:sp>
      <p:sp>
        <p:nvSpPr>
          <p:cNvPr id="15" name="Shape 13"/>
          <p:cNvSpPr/>
          <p:nvPr/>
        </p:nvSpPr>
        <p:spPr>
          <a:xfrm>
            <a:off x="812800" y="4442461"/>
            <a:ext cx="3420507" cy="558800"/>
          </a:xfrm>
          <a:prstGeom prst="roundRect">
            <a:avLst>
              <a:gd name="adj" fmla="val 22727"/>
            </a:avLst>
          </a:prstGeom>
          <a:solidFill>
            <a:srgbClr val="F1E6D2"/>
          </a:solidFill>
          <a:ln/>
        </p:spPr>
      </p:sp>
      <p:pic>
        <p:nvPicPr>
          <p:cNvPr id="16" name="Image 0" descr="Code">    </p:cNvPr>
          <p:cNvPicPr>
            <a:picLocks noChangeAspect="1"/>
          </p:cNvPicPr>
          <p:nvPr/>
        </p:nvPicPr>
        <p:blipFill>
          <a:blip r:embed="rId1"/>
          <a:srcRect l="0" r="0" t="0" b="0"/>
          <a:stretch/>
        </p:blipFill>
        <p:spPr>
          <a:xfrm>
            <a:off x="965200" y="4594861"/>
            <a:ext cx="254000" cy="254000"/>
          </a:xfrm>
          <a:prstGeom prst="rect">
            <a:avLst/>
          </a:prstGeom>
        </p:spPr>
      </p:pic>
      <p:sp>
        <p:nvSpPr>
          <p:cNvPr id="17" name="Text 14"/>
          <p:cNvSpPr/>
          <p:nvPr/>
        </p:nvSpPr>
        <p:spPr>
          <a:xfrm>
            <a:off x="1320800" y="4597400"/>
            <a:ext cx="284291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1A14"/>
                </a:solidFill>
                <a:latin typeface="DM Sans" pitchFamily="34" charset="0"/>
                <a:ea typeface="DM Sans" pitchFamily="34" charset="-122"/>
                <a:cs typeface="DM Sans" pitchFamily="34" charset="-120"/>
              </a:rPr>
              <a:t>Public repo, MIT license</a:t>
            </a:r>
            <a:endParaRPr lang="en-US" sz="1400" dirty="0"/>
          </a:p>
        </p:txBody>
      </p:sp>
      <p:sp>
        <p:nvSpPr>
          <p:cNvPr id="18" name="Shape 15"/>
          <p:cNvSpPr/>
          <p:nvPr/>
        </p:nvSpPr>
        <p:spPr>
          <a:xfrm>
            <a:off x="4385707" y="4442461"/>
            <a:ext cx="3420586" cy="558800"/>
          </a:xfrm>
          <a:prstGeom prst="roundRect">
            <a:avLst>
              <a:gd name="adj" fmla="val 22727"/>
            </a:avLst>
          </a:prstGeom>
          <a:solidFill>
            <a:srgbClr val="F1E6D2"/>
          </a:solidFill>
          <a:ln/>
        </p:spPr>
      </p:sp>
      <p:pic>
        <p:nvPicPr>
          <p:cNvPr id="19" name="Image 1" descr="Verified">    </p:cNvPr>
          <p:cNvPicPr>
            <a:picLocks noChangeAspect="1"/>
          </p:cNvPicPr>
          <p:nvPr/>
        </p:nvPicPr>
        <p:blipFill>
          <a:blip r:embed="rId2"/>
          <a:srcRect l="0" r="0" t="0" b="0"/>
          <a:stretch/>
        </p:blipFill>
        <p:spPr>
          <a:xfrm>
            <a:off x="4538107" y="4594861"/>
            <a:ext cx="254000" cy="254000"/>
          </a:xfrm>
          <a:prstGeom prst="rect">
            <a:avLst/>
          </a:prstGeom>
        </p:spPr>
      </p:pic>
      <p:sp>
        <p:nvSpPr>
          <p:cNvPr id="20" name="Text 16"/>
          <p:cNvSpPr/>
          <p:nvPr/>
        </p:nvSpPr>
        <p:spPr>
          <a:xfrm>
            <a:off x="4893707" y="4597400"/>
            <a:ext cx="28429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1A14"/>
                </a:solidFill>
                <a:latin typeface="DM Sans" pitchFamily="34" charset="0"/>
                <a:ea typeface="DM Sans" pitchFamily="34" charset="-122"/>
                <a:cs typeface="DM Sans" pitchFamily="34" charset="-120"/>
              </a:rPr>
              <a:t>Agent skill: SKILL.md</a:t>
            </a:r>
            <a:endParaRPr lang="en-US" sz="1400" dirty="0"/>
          </a:p>
        </p:txBody>
      </p:sp>
      <p:sp>
        <p:nvSpPr>
          <p:cNvPr id="21" name="Shape 17"/>
          <p:cNvSpPr/>
          <p:nvPr/>
        </p:nvSpPr>
        <p:spPr>
          <a:xfrm>
            <a:off x="7958693" y="4442461"/>
            <a:ext cx="3420507" cy="558800"/>
          </a:xfrm>
          <a:prstGeom prst="roundRect">
            <a:avLst>
              <a:gd name="adj" fmla="val 22727"/>
            </a:avLst>
          </a:prstGeom>
          <a:solidFill>
            <a:srgbClr val="F1E6D2"/>
          </a:solidFill>
          <a:ln/>
        </p:spPr>
      </p:sp>
      <p:pic>
        <p:nvPicPr>
          <p:cNvPr id="22" name="Image 2" descr="Tool">    </p:cNvPr>
          <p:cNvPicPr>
            <a:picLocks noChangeAspect="1"/>
          </p:cNvPicPr>
          <p:nvPr/>
        </p:nvPicPr>
        <p:blipFill>
          <a:blip r:embed="rId3"/>
          <a:srcRect l="0" r="0" t="0" b="0"/>
          <a:stretch/>
        </p:blipFill>
        <p:spPr>
          <a:xfrm>
            <a:off x="8111093" y="4594861"/>
            <a:ext cx="254000" cy="254000"/>
          </a:xfrm>
          <a:prstGeom prst="rect">
            <a:avLst/>
          </a:prstGeom>
        </p:spPr>
      </p:pic>
      <p:sp>
        <p:nvSpPr>
          <p:cNvPr id="23" name="Text 18"/>
          <p:cNvSpPr/>
          <p:nvPr/>
        </p:nvSpPr>
        <p:spPr>
          <a:xfrm>
            <a:off x="8466693" y="4597400"/>
            <a:ext cx="284291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1A14"/>
                </a:solidFill>
                <a:latin typeface="DM Sans" pitchFamily="34" charset="0"/>
                <a:ea typeface="DM Sans" pitchFamily="34" charset="-122"/>
                <a:cs typeface="DM Sans" pitchFamily="34" charset="-120"/>
              </a:rPr>
              <a:t>Our own harness tools</a:t>
            </a:r>
            <a:endParaRPr lang="en-US" sz="1400" dirty="0"/>
          </a:p>
        </p:txBody>
      </p:sp>
      <p:sp>
        <p:nvSpPr>
          <p:cNvPr id="24" name="Text 19"/>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C"/>
                </a:solidFill>
                <a:latin typeface="DM Sans" pitchFamily="34" charset="0"/>
                <a:ea typeface="DM Sans" pitchFamily="34" charset="-122"/>
                <a:cs typeface="DM Sans" pitchFamily="34" charset="-120"/>
              </a:rPr>
              <a:t>CanteenRush · Build with Gemma 4</a:t>
            </a:r>
            <a:endParaRPr lang="en-US" sz="1200" dirty="0"/>
          </a:p>
        </p:txBody>
      </p:sp>
      <p:sp>
        <p:nvSpPr>
          <p:cNvPr id="25" name="Text 20"/>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6A5C"/>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6D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31A14"/>
                </a:solidFill>
                <a:latin typeface="DM Sans" pitchFamily="34" charset="0"/>
                <a:ea typeface="DM Sans" pitchFamily="34" charset="-122"/>
                <a:cs typeface="DM Sans" pitchFamily="34" charset="-120"/>
              </a:rPr>
              <a:t>Impact and what’s next</a:t>
            </a:r>
            <a:endParaRPr lang="en-US" sz="3200" dirty="0"/>
          </a:p>
        </p:txBody>
      </p:sp>
      <p:sp>
        <p:nvSpPr>
          <p:cNvPr id="3" name="Shape 1"/>
          <p:cNvSpPr/>
          <p:nvPr/>
        </p:nvSpPr>
        <p:spPr>
          <a:xfrm>
            <a:off x="812800" y="1508761"/>
            <a:ext cx="5151120" cy="1812290"/>
          </a:xfrm>
          <a:prstGeom prst="roundRect">
            <a:avLst>
              <a:gd name="adj" fmla="val 8409"/>
            </a:avLst>
          </a:prstGeom>
          <a:solidFill>
            <a:srgbClr val="231A14"/>
          </a:solidFill>
          <a:ln/>
        </p:spPr>
      </p:sp>
      <p:sp>
        <p:nvSpPr>
          <p:cNvPr id="4" name="Text 2"/>
          <p:cNvSpPr/>
          <p:nvPr/>
        </p:nvSpPr>
        <p:spPr>
          <a:xfrm>
            <a:off x="1066800" y="1762761"/>
            <a:ext cx="478241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08A4B"/>
                </a:solidFill>
                <a:latin typeface="DM Sans" pitchFamily="34" charset="0"/>
                <a:ea typeface="DM Sans" pitchFamily="34" charset="-122"/>
                <a:cs typeface="DM Sans" pitchFamily="34" charset="-120"/>
              </a:rPr>
              <a:t>Why it matters</a:t>
            </a:r>
            <a:endParaRPr lang="en-US" sz="2200" dirty="0"/>
          </a:p>
        </p:txBody>
      </p:sp>
      <p:sp>
        <p:nvSpPr>
          <p:cNvPr id="5" name="Text 3"/>
          <p:cNvSpPr/>
          <p:nvPr/>
        </p:nvSpPr>
        <p:spPr>
          <a:xfrm>
            <a:off x="1137920" y="2199639"/>
            <a:ext cx="4703674"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FBF5EA"/>
                </a:solidFill>
                <a:latin typeface="DM Sans" pitchFamily="34" charset="0"/>
                <a:ea typeface="DM Sans" pitchFamily="34" charset="-122"/>
                <a:cs typeface="DM Sans" pitchFamily="34" charset="-120"/>
              </a:rPr>
              <a:t>Less time in the queue, fewer missed classes</a:t>
            </a:r>
            <a:endParaRPr lang="en-US" sz="1500" dirty="0"/>
          </a:p>
          <a:p>
            <a:pPr algn="l" marL="182880" indent="-182880">
              <a:lnSpc>
                <a:spcPts val="2250"/>
              </a:lnSpc>
              <a:buSzPct val="100000"/>
              <a:buChar char="•"/>
            </a:pPr>
            <a:r>
              <a:rPr lang="en-US" sz="1500" dirty="0">
                <a:solidFill>
                  <a:srgbClr val="FBF5EA"/>
                </a:solidFill>
                <a:latin typeface="DM Sans" pitchFamily="34" charset="0"/>
                <a:ea typeface="DM Sans" pitchFamily="34" charset="-122"/>
                <a:cs typeface="DM Sans" pitchFamily="34" charset="-120"/>
              </a:rPr>
              <a:t>The kitchen sees orders before the rush</a:t>
            </a:r>
            <a:endParaRPr lang="en-US" sz="1500" dirty="0"/>
          </a:p>
          <a:p>
            <a:pPr algn="l" marL="182880" indent="-182880">
              <a:lnSpc>
                <a:spcPts val="2250"/>
              </a:lnSpc>
              <a:buSzPct val="100000"/>
              <a:buChar char="•"/>
            </a:pPr>
            <a:r>
              <a:rPr lang="en-US" sz="1500" dirty="0">
                <a:solidFill>
                  <a:srgbClr val="FBF5EA"/>
                </a:solidFill>
                <a:latin typeface="DM Sans" pitchFamily="34" charset="0"/>
                <a:ea typeface="DM Sans" pitchFamily="34" charset="-122"/>
                <a:cs typeface="DM Sans" pitchFamily="34" charset="-120"/>
              </a:rPr>
              <a:t>Easy to adapt to other campuses</a:t>
            </a:r>
            <a:endParaRPr lang="en-US" sz="1500" dirty="0"/>
          </a:p>
        </p:txBody>
      </p:sp>
      <p:sp>
        <p:nvSpPr>
          <p:cNvPr id="6" name="Shape 4"/>
          <p:cNvSpPr/>
          <p:nvPr/>
        </p:nvSpPr>
        <p:spPr>
          <a:xfrm>
            <a:off x="6221095" y="1511936"/>
            <a:ext cx="5154930" cy="1805940"/>
          </a:xfrm>
          <a:prstGeom prst="roundRect">
            <a:avLst>
              <a:gd name="adj" fmla="val 8263"/>
            </a:avLst>
          </a:prstGeom>
          <a:solidFill>
            <a:srgbClr val="FFFDF8"/>
          </a:solidFill>
          <a:ln w="6350">
            <a:solidFill>
              <a:srgbClr val="E5D6BE"/>
            </a:solidFill>
            <a:prstDash val="solid"/>
          </a:ln>
        </p:spPr>
      </p:sp>
      <p:sp>
        <p:nvSpPr>
          <p:cNvPr id="7" name="Text 5"/>
          <p:cNvSpPr/>
          <p:nvPr/>
        </p:nvSpPr>
        <p:spPr>
          <a:xfrm>
            <a:off x="6477000" y="1767839"/>
            <a:ext cx="478241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84A14"/>
                </a:solidFill>
                <a:latin typeface="DM Sans" pitchFamily="34" charset="0"/>
                <a:ea typeface="DM Sans" pitchFamily="34" charset="-122"/>
                <a:cs typeface="DM Sans" pitchFamily="34" charset="-120"/>
              </a:rPr>
              <a:t>Next steps</a:t>
            </a:r>
            <a:endParaRPr lang="en-US" sz="2200" dirty="0"/>
          </a:p>
        </p:txBody>
      </p:sp>
      <p:sp>
        <p:nvSpPr>
          <p:cNvPr id="8" name="Text 6"/>
          <p:cNvSpPr/>
          <p:nvPr/>
        </p:nvSpPr>
        <p:spPr>
          <a:xfrm>
            <a:off x="6548120" y="2204721"/>
            <a:ext cx="4703674"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231A14"/>
                </a:solidFill>
                <a:latin typeface="DM Sans" pitchFamily="34" charset="0"/>
                <a:ea typeface="DM Sans" pitchFamily="34" charset="-122"/>
                <a:cs typeface="DM Sans" pitchFamily="34" charset="-120"/>
              </a:rPr>
              <a:t>Shared backend so many phones sync live</a:t>
            </a:r>
            <a:endParaRPr lang="en-US" sz="1500" dirty="0"/>
          </a:p>
          <a:p>
            <a:pPr algn="l" marL="182880" indent="-182880">
              <a:lnSpc>
                <a:spcPts val="2250"/>
              </a:lnSpc>
              <a:buSzPct val="100000"/>
              <a:buChar char="•"/>
            </a:pPr>
            <a:r>
              <a:rPr lang="en-US" sz="1500" dirty="0">
                <a:solidFill>
                  <a:srgbClr val="231A14"/>
                </a:solidFill>
                <a:latin typeface="DM Sans" pitchFamily="34" charset="0"/>
                <a:ea typeface="DM Sans" pitchFamily="34" charset="-122"/>
                <a:cs typeface="DM Sans" pitchFamily="34" charset="-120"/>
              </a:rPr>
              <a:t>Pickup-ready notifications</a:t>
            </a:r>
            <a:endParaRPr lang="en-US" sz="1500" dirty="0"/>
          </a:p>
          <a:p>
            <a:pPr algn="l" marL="182880" indent="-182880">
              <a:lnSpc>
                <a:spcPts val="2250"/>
              </a:lnSpc>
              <a:buSzPct val="100000"/>
              <a:buChar char="•"/>
            </a:pPr>
            <a:r>
              <a:rPr lang="en-US" sz="1500" dirty="0">
                <a:solidFill>
                  <a:srgbClr val="231A14"/>
                </a:solidFill>
                <a:latin typeface="DM Sans" pitchFamily="34" charset="0"/>
                <a:ea typeface="DM Sans" pitchFamily="34" charset="-122"/>
                <a:cs typeface="DM Sans" pitchFamily="34" charset="-120"/>
              </a:rPr>
              <a:t>Read the menu board from a photo</a:t>
            </a:r>
            <a:endParaRPr lang="en-US" sz="1500" dirty="0"/>
          </a:p>
        </p:txBody>
      </p:sp>
      <p:sp>
        <p:nvSpPr>
          <p:cNvPr id="9" name="Shape 7"/>
          <p:cNvSpPr/>
          <p:nvPr/>
        </p:nvSpPr>
        <p:spPr>
          <a:xfrm>
            <a:off x="812800" y="3549650"/>
            <a:ext cx="10566400" cy="797560"/>
          </a:xfrm>
          <a:prstGeom prst="roundRect">
            <a:avLst>
              <a:gd name="adj" fmla="val 19108"/>
            </a:avLst>
          </a:prstGeom>
          <a:solidFill>
            <a:srgbClr val="F08A4B"/>
          </a:solidFill>
          <a:ln/>
        </p:spPr>
      </p:sp>
      <p:sp>
        <p:nvSpPr>
          <p:cNvPr id="10" name="Text 8"/>
          <p:cNvSpPr/>
          <p:nvPr/>
        </p:nvSpPr>
        <p:spPr>
          <a:xfrm>
            <a:off x="1066800" y="3752850"/>
            <a:ext cx="4747736"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31A14"/>
                </a:solidFill>
                <a:latin typeface="DM Sans" pitchFamily="34" charset="0"/>
                <a:ea typeface="DM Sans" pitchFamily="34" charset="-122"/>
                <a:cs typeface="DM Sans" pitchFamily="34" charset="-120"/>
              </a:rPr>
              <a:t>Order before you leave class.</a:t>
            </a:r>
            <a:endParaRPr lang="en-US" sz="2200" dirty="0"/>
          </a:p>
        </p:txBody>
      </p:sp>
      <p:sp>
        <p:nvSpPr>
          <p:cNvPr id="11" name="Text 9"/>
          <p:cNvSpPr/>
          <p:nvPr/>
        </p:nvSpPr>
        <p:spPr>
          <a:xfrm>
            <a:off x="6845808" y="3832861"/>
            <a:ext cx="4279392"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31A14"/>
                </a:solidFill>
                <a:latin typeface="JetBrains Mono" pitchFamily="49" charset="0"/>
                <a:ea typeface="JetBrains Mono" pitchFamily="49" charset="-122"/>
                <a:cs typeface="JetBrains Mono" pitchFamily="49" charset="-120"/>
              </a:rPr>
              <a:t>github.com/Git2prashant/canteen-rush</a:t>
            </a:r>
            <a:endParaRPr lang="en-US" sz="1300" dirty="0"/>
          </a:p>
        </p:txBody>
      </p:sp>
      <p:sp>
        <p:nvSpPr>
          <p:cNvPr id="12" name="Text 10"/>
          <p:cNvSpPr/>
          <p:nvPr/>
        </p:nvSpPr>
        <p:spPr>
          <a:xfrm>
            <a:off x="812800" y="6167121"/>
            <a:ext cx="65405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1A14"/>
                </a:solidFill>
                <a:latin typeface="DM Sans" pitchFamily="34" charset="0"/>
                <a:ea typeface="DM Sans" pitchFamily="34" charset="-122"/>
                <a:cs typeface="DM Sans" pitchFamily="34" charset="-120"/>
              </a:rPr>
              <a:t>Thank you · Questions? · Team Eureka</a:t>
            </a:r>
            <a:endParaRPr lang="en-US" sz="1600" dirty="0"/>
          </a:p>
        </p:txBody>
      </p:sp>
      <p:sp>
        <p:nvSpPr>
          <p:cNvPr id="13" name="Text 1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6A5C"/>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theme/theme1.xml><?xml version="1.0" encoding="utf-8"?>
<a:theme xmlns:a="http://schemas.openxmlformats.org/drawingml/2006/main" name="CanteenRush">
  <a:themeElements>
    <a:clrScheme name="CanteenRush">
      <a:dk1>
        <a:srgbClr val="231A14"/>
      </a:dk1>
      <a:lt1>
        <a:srgbClr val="FBF5EA"/>
      </a:lt1>
      <a:dk2>
        <a:srgbClr val="59514A"/>
      </a:dk2>
      <a:lt2>
        <a:srgbClr val="E5DFD5"/>
      </a:lt2>
      <a:accent1>
        <a:srgbClr val="F08A4B"/>
      </a:accent1>
      <a:accent2>
        <a:srgbClr val="B84A14"/>
      </a:accent2>
      <a:accent3>
        <a:srgbClr val="BBA78F"/>
      </a:accent3>
      <a:accent4>
        <a:srgbClr val="F6D9C0"/>
      </a:accent4>
      <a:accent5>
        <a:srgbClr val="1F6F5F"/>
      </a:accent5>
      <a:accent6>
        <a:srgbClr val="5A4A3E"/>
      </a:accent6>
      <a:hlink>
        <a:srgbClr val="0563C1"/>
      </a:hlink>
      <a:folHlink>
        <a:srgbClr val="954F72"/>
      </a:folHlink>
    </a:clrScheme>
    <a:fontScheme name="CanteenRush">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CanteenRush</dc:title>
  <dc:subject/>
  <dc:creator/>
  <cp:lastModifiedBy/>
  <cp:revision>1</cp:revision>
  <dcterms:created xsi:type="dcterms:W3CDTF">2026-10-10T11:24:41Z</dcterms:created>
  <dcterms:modified xsi:type="dcterms:W3CDTF">2026-10-10T11:24:41Z</dcterms:modified>
</cp:coreProperties>
</file>